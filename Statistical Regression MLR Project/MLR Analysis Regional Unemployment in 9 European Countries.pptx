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Lst>
  <p:sldSz cx="18288000" cy="10287000"/>
  <p:notesSz cx="6858000" cy="9144000"/>
  <p:embeddedFontLst>
    <p:embeddedFont>
      <p:font typeface="Codec Pro Bold" charset="1" panose="00000600000000000000"/>
      <p:regular r:id="rId25"/>
    </p:embeddedFont>
    <p:embeddedFont>
      <p:font typeface="TT Drugs" charset="1" panose="02000503060000020003"/>
      <p:regular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fonts/font25.fntdata" Type="http://schemas.openxmlformats.org/officeDocument/2006/relationships/font"/><Relationship Id="rId26" Target="fonts/font26.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8.png" Type="http://schemas.openxmlformats.org/officeDocument/2006/relationships/image"/><Relationship Id="rId4" Target="../media/image9.svg" Type="http://schemas.openxmlformats.org/officeDocument/2006/relationships/image"/><Relationship Id="rId5" Target="../media/image10.png" Type="http://schemas.openxmlformats.org/officeDocument/2006/relationships/image"/><Relationship Id="rId6" Target="../media/image11.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2.png" Type="http://schemas.openxmlformats.org/officeDocument/2006/relationships/image"/><Relationship Id="rId4" Target="../media/image13.svg" Type="http://schemas.openxmlformats.org/officeDocument/2006/relationships/image"/><Relationship Id="rId5" Target="../media/image14.png" Type="http://schemas.openxmlformats.org/officeDocument/2006/relationships/image"/><Relationship Id="rId6" Target="../media/image15.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4.png" Type="http://schemas.openxmlformats.org/officeDocument/2006/relationships/image"/><Relationship Id="rId4" Target="../media/image15.svg" Type="http://schemas.openxmlformats.org/officeDocument/2006/relationships/image"/><Relationship Id="rId5" Target="../media/image16.png" Type="http://schemas.openxmlformats.org/officeDocument/2006/relationships/image"/><Relationship Id="rId6" Target="../media/image17.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4.png" Type="http://schemas.openxmlformats.org/officeDocument/2006/relationships/image"/><Relationship Id="rId4" Target="../media/image15.svg" Type="http://schemas.openxmlformats.org/officeDocument/2006/relationships/image"/><Relationship Id="rId5" Target="../media/image18.png" Type="http://schemas.openxmlformats.org/officeDocument/2006/relationships/image"/><Relationship Id="rId6" Target="../media/image19.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8.png" Type="http://schemas.openxmlformats.org/officeDocument/2006/relationships/image"/><Relationship Id="rId4" Target="../media/image9.svg" Type="http://schemas.openxmlformats.org/officeDocument/2006/relationships/image"/><Relationship Id="rId5" Target="../media/image10.png" Type="http://schemas.openxmlformats.org/officeDocument/2006/relationships/image"/><Relationship Id="rId6" Target="../media/image11.svg" Type="http://schemas.openxmlformats.org/officeDocument/2006/relationships/image"/><Relationship Id="rId7" Target="../media/image20.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2.png" Type="http://schemas.openxmlformats.org/officeDocument/2006/relationships/image"/><Relationship Id="rId4" Target="../media/image13.svg" Type="http://schemas.openxmlformats.org/officeDocument/2006/relationships/image"/><Relationship Id="rId5" Target="../media/image14.png" Type="http://schemas.openxmlformats.org/officeDocument/2006/relationships/image"/><Relationship Id="rId6" Target="../media/image15.svg" Type="http://schemas.openxmlformats.org/officeDocument/2006/relationships/image"/><Relationship Id="rId7" Target="../media/image21.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2.png" Type="http://schemas.openxmlformats.org/officeDocument/2006/relationships/image"/><Relationship Id="rId4" Target="../media/image13.svg" Type="http://schemas.openxmlformats.org/officeDocument/2006/relationships/image"/><Relationship Id="rId5" Target="../media/image14.png" Type="http://schemas.openxmlformats.org/officeDocument/2006/relationships/image"/><Relationship Id="rId6" Target="../media/image15.svg" Type="http://schemas.openxmlformats.org/officeDocument/2006/relationships/image"/><Relationship Id="rId7" Target="../media/image22.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3.jpeg" Type="http://schemas.openxmlformats.org/officeDocument/2006/relationships/image"/><Relationship Id="rId3" Target="../media/image6.png" Type="http://schemas.openxmlformats.org/officeDocument/2006/relationships/image"/><Relationship Id="rId4" Target="../media/image7.svg" Type="http://schemas.openxmlformats.org/officeDocument/2006/relationships/image"/><Relationship Id="rId5" Target="../media/image24.png" Type="http://schemas.openxmlformats.org/officeDocument/2006/relationships/image"/><Relationship Id="rId6" Target="../media/image25.svg" Type="http://schemas.openxmlformats.org/officeDocument/2006/relationships/image"/><Relationship Id="rId7" Target="../media/image26.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7.png" Type="http://schemas.openxmlformats.org/officeDocument/2006/relationships/image"/><Relationship Id="rId3" Target="../media/image28.svg" Type="http://schemas.openxmlformats.org/officeDocument/2006/relationships/image"/><Relationship Id="rId4" Target="../media/image29.png" Type="http://schemas.openxmlformats.org/officeDocument/2006/relationships/image"/><Relationship Id="rId5" Target="../media/image30.png" Type="http://schemas.openxmlformats.org/officeDocument/2006/relationships/image"/><Relationship Id="rId6" Target="../media/image31.svg" Type="http://schemas.openxmlformats.org/officeDocument/2006/relationships/image"/><Relationship Id="rId7" Target="../media/image32.png" Type="http://schemas.openxmlformats.org/officeDocument/2006/relationships/image"/><Relationship Id="rId8" Target="../media/image33.svg" Type="http://schemas.openxmlformats.org/officeDocument/2006/relationships/image"/><Relationship Id="rId9" Target="../media/image34.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6.png" Type="http://schemas.openxmlformats.org/officeDocument/2006/relationships/image"/><Relationship Id="rId4" Target="../media/image7.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5.jpeg" Type="http://schemas.openxmlformats.org/officeDocument/2006/relationships/image"/><Relationship Id="rId3" Target="../media/image6.png" Type="http://schemas.openxmlformats.org/officeDocument/2006/relationships/image"/><Relationship Id="rId4" Target="../media/image7.svg" Type="http://schemas.openxmlformats.org/officeDocument/2006/relationships/image"/><Relationship Id="rId5" Target="../media/image24.png" Type="http://schemas.openxmlformats.org/officeDocument/2006/relationships/image"/><Relationship Id="rId6" Target="../media/image25.svg" Type="http://schemas.openxmlformats.org/officeDocument/2006/relationships/image"/><Relationship Id="rId7" Target="../media/image36.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3.jpeg" Type="http://schemas.openxmlformats.org/officeDocument/2006/relationships/image"/><Relationship Id="rId3" Target="../media/image6.png" Type="http://schemas.openxmlformats.org/officeDocument/2006/relationships/image"/><Relationship Id="rId4" Target="../media/image7.svg" Type="http://schemas.openxmlformats.org/officeDocument/2006/relationships/image"/><Relationship Id="rId5" Target="../media/image24.png" Type="http://schemas.openxmlformats.org/officeDocument/2006/relationships/image"/><Relationship Id="rId6" Target="../media/image25.svg" Type="http://schemas.openxmlformats.org/officeDocument/2006/relationships/image"/><Relationship Id="rId7" Target="../media/image37.png" Type="http://schemas.openxmlformats.org/officeDocument/2006/relationships/image"/><Relationship Id="rId8" Target="../media/image38.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6.png" Type="http://schemas.openxmlformats.org/officeDocument/2006/relationships/image"/><Relationship Id="rId4" Target="../media/image7.svg" Type="http://schemas.openxmlformats.org/officeDocument/2006/relationships/image"/><Relationship Id="rId5" Target="../media/image24.png" Type="http://schemas.openxmlformats.org/officeDocument/2006/relationships/image"/><Relationship Id="rId6" Target="../media/image25.svg" Type="http://schemas.openxmlformats.org/officeDocument/2006/relationships/image"/><Relationship Id="rId7" Target="../media/image39.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3.jpeg" Type="http://schemas.openxmlformats.org/officeDocument/2006/relationships/image"/><Relationship Id="rId3" Target="../media/image6.png" Type="http://schemas.openxmlformats.org/officeDocument/2006/relationships/image"/><Relationship Id="rId4" Target="../media/image7.svg" Type="http://schemas.openxmlformats.org/officeDocument/2006/relationships/image"/><Relationship Id="rId5" Target="../media/image24.png" Type="http://schemas.openxmlformats.org/officeDocument/2006/relationships/image"/><Relationship Id="rId6" Target="../media/image25.svg" Type="http://schemas.openxmlformats.org/officeDocument/2006/relationships/image"/><Relationship Id="rId7" Target="../media/image40.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41.png" Type="http://schemas.openxmlformats.org/officeDocument/2006/relationships/image"/><Relationship Id="rId4" Target="../media/image42.svg" Type="http://schemas.openxmlformats.org/officeDocument/2006/relationships/image"/><Relationship Id="rId5" Target="../media/image2.png" Type="http://schemas.openxmlformats.org/officeDocument/2006/relationships/image"/><Relationship Id="rId6" Target="../media/image3.svg" Type="http://schemas.openxmlformats.org/officeDocument/2006/relationships/image"/><Relationship Id="rId7" Target="../media/image10.png" Type="http://schemas.openxmlformats.org/officeDocument/2006/relationships/image"/><Relationship Id="rId8" Target="../media/image11.sv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7.png" Type="http://schemas.openxmlformats.org/officeDocument/2006/relationships/image"/><Relationship Id="rId3" Target="../media/image28.svg" Type="http://schemas.openxmlformats.org/officeDocument/2006/relationships/image"/><Relationship Id="rId4" Target="../media/image29.png" Type="http://schemas.openxmlformats.org/officeDocument/2006/relationships/image"/><Relationship Id="rId5" Target="../media/image30.png" Type="http://schemas.openxmlformats.org/officeDocument/2006/relationships/image"/><Relationship Id="rId6" Target="../media/image31.svg" Type="http://schemas.openxmlformats.org/officeDocument/2006/relationships/image"/><Relationship Id="rId7" Target="../media/image32.png" Type="http://schemas.openxmlformats.org/officeDocument/2006/relationships/image"/><Relationship Id="rId8" Target="../media/image33.sv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6.png" Type="http://schemas.openxmlformats.org/officeDocument/2006/relationships/image"/><Relationship Id="rId4" Target="../media/image7.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2"/>
            <a:stretch>
              <a:fillRect l="0" t="-38888" r="0" b="-38888"/>
            </a:stretch>
          </a:blipFill>
        </p:spPr>
      </p:sp>
      <p:sp>
        <p:nvSpPr>
          <p:cNvPr name="TextBox 3" id="3"/>
          <p:cNvSpPr txBox="true"/>
          <p:nvPr/>
        </p:nvSpPr>
        <p:spPr>
          <a:xfrm rot="0">
            <a:off x="1397559" y="2543886"/>
            <a:ext cx="10704612" cy="981958"/>
          </a:xfrm>
          <a:prstGeom prst="rect">
            <a:avLst/>
          </a:prstGeom>
        </p:spPr>
        <p:txBody>
          <a:bodyPr anchor="t" rtlCol="false" tIns="0" lIns="0" bIns="0" rIns="0">
            <a:spAutoFit/>
          </a:bodyPr>
          <a:lstStyle/>
          <a:p>
            <a:pPr algn="l">
              <a:lnSpc>
                <a:spcPts val="7301"/>
              </a:lnSpc>
              <a:spcBef>
                <a:spcPct val="0"/>
              </a:spcBef>
            </a:pPr>
            <a:r>
              <a:rPr lang="en-US" sz="5215" b="true">
                <a:solidFill>
                  <a:srgbClr val="FFFFFF"/>
                </a:solidFill>
                <a:latin typeface="Codec Pro Bold"/>
                <a:ea typeface="Codec Pro Bold"/>
                <a:cs typeface="Codec Pro Bold"/>
                <a:sym typeface="Codec Pro Bold"/>
              </a:rPr>
              <a:t>Econometrics Project</a:t>
            </a:r>
          </a:p>
        </p:txBody>
      </p:sp>
      <p:sp>
        <p:nvSpPr>
          <p:cNvPr name="Freeform 4" id="4"/>
          <p:cNvSpPr/>
          <p:nvPr/>
        </p:nvSpPr>
        <p:spPr>
          <a:xfrm flipH="false" flipV="false" rot="-5400000">
            <a:off x="14392521" y="-2481204"/>
            <a:ext cx="5083136" cy="10166272"/>
          </a:xfrm>
          <a:custGeom>
            <a:avLst/>
            <a:gdLst/>
            <a:ahLst/>
            <a:cxnLst/>
            <a:rect r="r" b="b" t="t" l="l"/>
            <a:pathLst>
              <a:path h="10166272" w="5083136">
                <a:moveTo>
                  <a:pt x="0" y="0"/>
                </a:moveTo>
                <a:lnTo>
                  <a:pt x="5083136" y="0"/>
                </a:lnTo>
                <a:lnTo>
                  <a:pt x="5083136" y="10166272"/>
                </a:lnTo>
                <a:lnTo>
                  <a:pt x="0" y="1016627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8472858">
            <a:off x="459533" y="6400181"/>
            <a:ext cx="2970557" cy="5941114"/>
          </a:xfrm>
          <a:custGeom>
            <a:avLst/>
            <a:gdLst/>
            <a:ahLst/>
            <a:cxnLst/>
            <a:rect r="r" b="b" t="t" l="l"/>
            <a:pathLst>
              <a:path h="5941114" w="2970557">
                <a:moveTo>
                  <a:pt x="0" y="0"/>
                </a:moveTo>
                <a:lnTo>
                  <a:pt x="2970557" y="0"/>
                </a:lnTo>
                <a:lnTo>
                  <a:pt x="2970557" y="5941114"/>
                </a:lnTo>
                <a:lnTo>
                  <a:pt x="0" y="594111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6" id="6"/>
          <p:cNvSpPr txBox="true"/>
          <p:nvPr/>
        </p:nvSpPr>
        <p:spPr>
          <a:xfrm rot="0">
            <a:off x="1397559" y="3880645"/>
            <a:ext cx="15861741" cy="4688361"/>
          </a:xfrm>
          <a:prstGeom prst="rect">
            <a:avLst/>
          </a:prstGeom>
        </p:spPr>
        <p:txBody>
          <a:bodyPr anchor="t" rtlCol="false" tIns="0" lIns="0" bIns="0" rIns="0">
            <a:spAutoFit/>
          </a:bodyPr>
          <a:lstStyle/>
          <a:p>
            <a:pPr algn="l">
              <a:lnSpc>
                <a:spcPts val="6582"/>
              </a:lnSpc>
            </a:pPr>
            <a:r>
              <a:rPr lang="en-US" sz="8227" spc="263" b="true">
                <a:solidFill>
                  <a:srgbClr val="FFFFFF"/>
                </a:solidFill>
                <a:latin typeface="Codec Pro Bold"/>
                <a:ea typeface="Codec Pro Bold"/>
                <a:cs typeface="Codec Pro Bold"/>
                <a:sym typeface="Codec Pro Bold"/>
              </a:rPr>
              <a:t>Economic and Structural Drivers of Regional Unemployment in 9 European Countries </a:t>
            </a:r>
          </a:p>
          <a:p>
            <a:pPr algn="l">
              <a:lnSpc>
                <a:spcPts val="6582"/>
              </a:lnSpc>
            </a:pPr>
          </a:p>
          <a:p>
            <a:pPr algn="l">
              <a:lnSpc>
                <a:spcPts val="3382"/>
              </a:lnSpc>
            </a:pPr>
          </a:p>
        </p:txBody>
      </p:sp>
      <p:sp>
        <p:nvSpPr>
          <p:cNvPr name="Freeform 7" id="7"/>
          <p:cNvSpPr/>
          <p:nvPr/>
        </p:nvSpPr>
        <p:spPr>
          <a:xfrm flipH="false" flipV="false" rot="0">
            <a:off x="4963362" y="8483528"/>
            <a:ext cx="1104666" cy="1104666"/>
          </a:xfrm>
          <a:custGeom>
            <a:avLst/>
            <a:gdLst/>
            <a:ahLst/>
            <a:cxnLst/>
            <a:rect r="r" b="b" t="t" l="l"/>
            <a:pathLst>
              <a:path h="1104666" w="1104666">
                <a:moveTo>
                  <a:pt x="0" y="0"/>
                </a:moveTo>
                <a:lnTo>
                  <a:pt x="1104666" y="0"/>
                </a:lnTo>
                <a:lnTo>
                  <a:pt x="1104666" y="1104666"/>
                </a:lnTo>
                <a:lnTo>
                  <a:pt x="0" y="110466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6303208">
            <a:off x="7954664" y="1028700"/>
            <a:ext cx="712491" cy="712491"/>
          </a:xfrm>
          <a:custGeom>
            <a:avLst/>
            <a:gdLst/>
            <a:ahLst/>
            <a:cxnLst/>
            <a:rect r="r" b="b" t="t" l="l"/>
            <a:pathLst>
              <a:path h="712491" w="712491">
                <a:moveTo>
                  <a:pt x="0" y="0"/>
                </a:moveTo>
                <a:lnTo>
                  <a:pt x="712490" y="0"/>
                </a:lnTo>
                <a:lnTo>
                  <a:pt x="712490" y="712491"/>
                </a:lnTo>
                <a:lnTo>
                  <a:pt x="0" y="712491"/>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9" id="9"/>
          <p:cNvSpPr txBox="true"/>
          <p:nvPr/>
        </p:nvSpPr>
        <p:spPr>
          <a:xfrm rot="0">
            <a:off x="6328542" y="8426378"/>
            <a:ext cx="10045446" cy="1606694"/>
          </a:xfrm>
          <a:prstGeom prst="rect">
            <a:avLst/>
          </a:prstGeom>
        </p:spPr>
        <p:txBody>
          <a:bodyPr anchor="t" rtlCol="false" tIns="0" lIns="0" bIns="0" rIns="0">
            <a:spAutoFit/>
          </a:bodyPr>
          <a:lstStyle/>
          <a:p>
            <a:pPr algn="l">
              <a:lnSpc>
                <a:spcPts val="4283"/>
              </a:lnSpc>
            </a:pPr>
            <a:r>
              <a:rPr lang="en-US" sz="3059">
                <a:solidFill>
                  <a:srgbClr val="EE82EE"/>
                </a:solidFill>
                <a:latin typeface="TT Drugs"/>
                <a:ea typeface="TT Drugs"/>
                <a:cs typeface="TT Drugs"/>
                <a:sym typeface="TT Drugs"/>
              </a:rPr>
              <a:t>Secărea Diana, Sandu Leonard, Smeu Estera</a:t>
            </a:r>
          </a:p>
          <a:p>
            <a:pPr algn="l">
              <a:lnSpc>
                <a:spcPts val="4283"/>
              </a:lnSpc>
            </a:pPr>
            <a:r>
              <a:rPr lang="en-US" sz="3059">
                <a:solidFill>
                  <a:srgbClr val="EE82EE"/>
                </a:solidFill>
                <a:latin typeface="TT Drugs"/>
                <a:ea typeface="TT Drugs"/>
                <a:cs typeface="TT Drugs"/>
                <a:sym typeface="TT Drugs"/>
              </a:rPr>
              <a:t>Vătui Rebeca</a:t>
            </a:r>
          </a:p>
          <a:p>
            <a:pPr algn="l">
              <a:lnSpc>
                <a:spcPts val="4283"/>
              </a:lnSpc>
            </a:pPr>
          </a:p>
        </p:txBody>
      </p:sp>
      <p:sp>
        <p:nvSpPr>
          <p:cNvPr name="Freeform 10" id="10"/>
          <p:cNvSpPr/>
          <p:nvPr/>
        </p:nvSpPr>
        <p:spPr>
          <a:xfrm flipH="false" flipV="false" rot="6303208">
            <a:off x="15581198" y="6465734"/>
            <a:ext cx="712491" cy="712491"/>
          </a:xfrm>
          <a:custGeom>
            <a:avLst/>
            <a:gdLst/>
            <a:ahLst/>
            <a:cxnLst/>
            <a:rect r="r" b="b" t="t" l="l"/>
            <a:pathLst>
              <a:path h="712491" w="712491">
                <a:moveTo>
                  <a:pt x="0" y="0"/>
                </a:moveTo>
                <a:lnTo>
                  <a:pt x="712491" y="0"/>
                </a:lnTo>
                <a:lnTo>
                  <a:pt x="712491" y="712491"/>
                </a:lnTo>
                <a:lnTo>
                  <a:pt x="0" y="712491"/>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1" id="11"/>
          <p:cNvSpPr/>
          <p:nvPr/>
        </p:nvSpPr>
        <p:spPr>
          <a:xfrm flipH="false" flipV="false" rot="6303208">
            <a:off x="800480" y="431621"/>
            <a:ext cx="1194157" cy="1194157"/>
          </a:xfrm>
          <a:custGeom>
            <a:avLst/>
            <a:gdLst/>
            <a:ahLst/>
            <a:cxnLst/>
            <a:rect r="r" b="b" t="t" l="l"/>
            <a:pathLst>
              <a:path h="1194157" w="1194157">
                <a:moveTo>
                  <a:pt x="0" y="0"/>
                </a:moveTo>
                <a:lnTo>
                  <a:pt x="1194158" y="0"/>
                </a:lnTo>
                <a:lnTo>
                  <a:pt x="1194158" y="1194158"/>
                </a:lnTo>
                <a:lnTo>
                  <a:pt x="0" y="119415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12" id="12"/>
          <p:cNvSpPr txBox="true"/>
          <p:nvPr/>
        </p:nvSpPr>
        <p:spPr>
          <a:xfrm rot="0">
            <a:off x="8077909" y="7880626"/>
            <a:ext cx="6546711" cy="602902"/>
          </a:xfrm>
          <a:prstGeom prst="rect">
            <a:avLst/>
          </a:prstGeom>
        </p:spPr>
        <p:txBody>
          <a:bodyPr anchor="t" rtlCol="false" tIns="0" lIns="0" bIns="0" rIns="0">
            <a:spAutoFit/>
          </a:bodyPr>
          <a:lstStyle/>
          <a:p>
            <a:pPr algn="ctr">
              <a:lnSpc>
                <a:spcPts val="4569"/>
              </a:lnSpc>
              <a:spcBef>
                <a:spcPct val="0"/>
              </a:spcBef>
            </a:pPr>
            <a:r>
              <a:rPr lang="en-US" b="true" sz="3263" spc="104">
                <a:solidFill>
                  <a:srgbClr val="FFFFFF"/>
                </a:solidFill>
                <a:latin typeface="Codec Pro Bold"/>
                <a:ea typeface="Codec Pro Bold"/>
                <a:cs typeface="Codec Pro Bold"/>
                <a:sym typeface="Codec Pro Bold"/>
              </a:rPr>
              <a:t>A NUTS-2 Level Analysis (2022) </a:t>
            </a:r>
          </a:p>
        </p:txBody>
      </p:sp>
      <p:sp>
        <p:nvSpPr>
          <p:cNvPr name="TextBox 13" id="13"/>
          <p:cNvSpPr txBox="true"/>
          <p:nvPr/>
        </p:nvSpPr>
        <p:spPr>
          <a:xfrm rot="0">
            <a:off x="1187573" y="7268124"/>
            <a:ext cx="17259300" cy="602902"/>
          </a:xfrm>
          <a:prstGeom prst="rect">
            <a:avLst/>
          </a:prstGeom>
        </p:spPr>
        <p:txBody>
          <a:bodyPr anchor="t" rtlCol="false" tIns="0" lIns="0" bIns="0" rIns="0">
            <a:spAutoFit/>
          </a:bodyPr>
          <a:lstStyle/>
          <a:p>
            <a:pPr algn="ctr">
              <a:lnSpc>
                <a:spcPts val="4569"/>
              </a:lnSpc>
              <a:spcBef>
                <a:spcPct val="0"/>
              </a:spcBef>
            </a:pPr>
            <a:r>
              <a:rPr lang="en-US" b="true" sz="3263" spc="104">
                <a:solidFill>
                  <a:srgbClr val="FFFFFF"/>
                </a:solidFill>
                <a:latin typeface="Codec Pro Bold"/>
                <a:ea typeface="Codec Pro Bold"/>
                <a:cs typeface="Codec Pro Bold"/>
                <a:sym typeface="Codec Pro Bold"/>
              </a:rPr>
              <a:t>Belgium , Bulgaria, Czechia, Denmark, Germany, Estonia, Ireland, Greece, Spain</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2"/>
            <a:stretch>
              <a:fillRect l="0" t="-38888" r="0" b="-38888"/>
            </a:stretch>
          </a:blipFill>
        </p:spPr>
      </p:sp>
      <p:sp>
        <p:nvSpPr>
          <p:cNvPr name="Freeform 3" id="3"/>
          <p:cNvSpPr/>
          <p:nvPr/>
        </p:nvSpPr>
        <p:spPr>
          <a:xfrm flipH="false" flipV="false" rot="0">
            <a:off x="9718725" y="1717725"/>
            <a:ext cx="8569275" cy="8569275"/>
          </a:xfrm>
          <a:custGeom>
            <a:avLst/>
            <a:gdLst/>
            <a:ahLst/>
            <a:cxnLst/>
            <a:rect r="r" b="b" t="t" l="l"/>
            <a:pathLst>
              <a:path h="8569275" w="8569275">
                <a:moveTo>
                  <a:pt x="0" y="0"/>
                </a:moveTo>
                <a:lnTo>
                  <a:pt x="8569275" y="0"/>
                </a:lnTo>
                <a:lnTo>
                  <a:pt x="8569275" y="8569275"/>
                </a:lnTo>
                <a:lnTo>
                  <a:pt x="0" y="856927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550640" y="704752"/>
            <a:ext cx="9402710" cy="1160379"/>
          </a:xfrm>
          <a:prstGeom prst="rect">
            <a:avLst/>
          </a:prstGeom>
        </p:spPr>
        <p:txBody>
          <a:bodyPr anchor="t" rtlCol="false" tIns="0" lIns="0" bIns="0" rIns="0">
            <a:spAutoFit/>
          </a:bodyPr>
          <a:lstStyle/>
          <a:p>
            <a:pPr algn="l" marL="0" indent="0" lvl="0">
              <a:lnSpc>
                <a:spcPts val="8262"/>
              </a:lnSpc>
              <a:spcBef>
                <a:spcPct val="0"/>
              </a:spcBef>
            </a:pPr>
            <a:r>
              <a:rPr lang="en-US" b="true" sz="7184" spc="201">
                <a:solidFill>
                  <a:srgbClr val="FFFFFF"/>
                </a:solidFill>
                <a:latin typeface="Codec Pro Bold"/>
                <a:ea typeface="Codec Pro Bold"/>
                <a:cs typeface="Codec Pro Bold"/>
                <a:sym typeface="Codec Pro Bold"/>
              </a:rPr>
              <a:t>Introduction</a:t>
            </a:r>
          </a:p>
        </p:txBody>
      </p:sp>
      <p:sp>
        <p:nvSpPr>
          <p:cNvPr name="Freeform 5" id="5"/>
          <p:cNvSpPr/>
          <p:nvPr/>
        </p:nvSpPr>
        <p:spPr>
          <a:xfrm flipH="false" flipV="false" rot="3812006">
            <a:off x="10028334" y="701685"/>
            <a:ext cx="1508648" cy="1508648"/>
          </a:xfrm>
          <a:custGeom>
            <a:avLst/>
            <a:gdLst/>
            <a:ahLst/>
            <a:cxnLst/>
            <a:rect r="r" b="b" t="t" l="l"/>
            <a:pathLst>
              <a:path h="1508648" w="1508648">
                <a:moveTo>
                  <a:pt x="0" y="0"/>
                </a:moveTo>
                <a:lnTo>
                  <a:pt x="1508648" y="0"/>
                </a:lnTo>
                <a:lnTo>
                  <a:pt x="1508648" y="1508648"/>
                </a:lnTo>
                <a:lnTo>
                  <a:pt x="0" y="150864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10488219">
            <a:off x="-1751722" y="5533283"/>
            <a:ext cx="4704064" cy="4704064"/>
          </a:xfrm>
          <a:custGeom>
            <a:avLst/>
            <a:gdLst/>
            <a:ahLst/>
            <a:cxnLst/>
            <a:rect r="r" b="b" t="t" l="l"/>
            <a:pathLst>
              <a:path h="4704064" w="4704064">
                <a:moveTo>
                  <a:pt x="0" y="0"/>
                </a:moveTo>
                <a:lnTo>
                  <a:pt x="4704065" y="0"/>
                </a:lnTo>
                <a:lnTo>
                  <a:pt x="4704065" y="4704064"/>
                </a:lnTo>
                <a:lnTo>
                  <a:pt x="0" y="470406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7" id="7"/>
          <p:cNvSpPr txBox="true"/>
          <p:nvPr/>
        </p:nvSpPr>
        <p:spPr>
          <a:xfrm rot="0">
            <a:off x="1028700" y="1919429"/>
            <a:ext cx="16230600" cy="7338871"/>
          </a:xfrm>
          <a:prstGeom prst="rect">
            <a:avLst/>
          </a:prstGeom>
        </p:spPr>
        <p:txBody>
          <a:bodyPr anchor="t" rtlCol="false" tIns="0" lIns="0" bIns="0" rIns="0">
            <a:spAutoFit/>
          </a:bodyPr>
          <a:lstStyle/>
          <a:p>
            <a:pPr algn="ctr">
              <a:lnSpc>
                <a:spcPts val="4470"/>
              </a:lnSpc>
              <a:spcBef>
                <a:spcPct val="0"/>
              </a:spcBef>
            </a:pPr>
            <a:r>
              <a:rPr lang="en-US" b="true" sz="3193" spc="102">
                <a:solidFill>
                  <a:srgbClr val="FFFFFF"/>
                </a:solidFill>
                <a:latin typeface="Codec Pro Bold"/>
                <a:ea typeface="Codec Pro Bold"/>
                <a:cs typeface="Codec Pro Bold"/>
                <a:sym typeface="Codec Pro Bold"/>
              </a:rPr>
              <a:t>Unemployment in the European Union has an unf</a:t>
            </a:r>
            <a:r>
              <a:rPr lang="en-US" b="true" sz="3193" spc="102">
                <a:solidFill>
                  <a:srgbClr val="FFFFFF"/>
                </a:solidFill>
                <a:latin typeface="Codec Pro Bold"/>
                <a:ea typeface="Codec Pro Bold"/>
                <a:cs typeface="Codec Pro Bold"/>
                <a:sym typeface="Codec Pro Bold"/>
              </a:rPr>
              <a:t>ortunate habit of clustering in some regions while politely avoiding others. Let’s see what happened in Belgium , Bulgaria, Czechia, Denmark, Germany, Estonia, Ireland, Greece, Spain.</a:t>
            </a:r>
          </a:p>
          <a:p>
            <a:pPr algn="ctr">
              <a:lnSpc>
                <a:spcPts val="4470"/>
              </a:lnSpc>
              <a:spcBef>
                <a:spcPct val="0"/>
              </a:spcBef>
            </a:pPr>
          </a:p>
          <a:p>
            <a:pPr algn="ctr">
              <a:lnSpc>
                <a:spcPts val="4470"/>
              </a:lnSpc>
              <a:spcBef>
                <a:spcPct val="0"/>
              </a:spcBef>
            </a:pPr>
            <a:r>
              <a:rPr lang="en-US" b="true" sz="3193" spc="102">
                <a:solidFill>
                  <a:srgbClr val="FFFFFF"/>
                </a:solidFill>
                <a:latin typeface="Codec Pro Bold"/>
                <a:ea typeface="Codec Pro Bold"/>
                <a:cs typeface="Codec Pro Bold"/>
                <a:sym typeface="Codec Pro Bold"/>
              </a:rPr>
              <a:t>In 2022, a few NUTS-2 regions were practically running out of unemployed people, while others appeared to be collecting them.</a:t>
            </a:r>
          </a:p>
          <a:p>
            <a:pPr algn="ctr">
              <a:lnSpc>
                <a:spcPts val="4470"/>
              </a:lnSpc>
              <a:spcBef>
                <a:spcPct val="0"/>
              </a:spcBef>
            </a:pPr>
          </a:p>
          <a:p>
            <a:pPr algn="ctr">
              <a:lnSpc>
                <a:spcPts val="4470"/>
              </a:lnSpc>
              <a:spcBef>
                <a:spcPct val="0"/>
              </a:spcBef>
            </a:pPr>
            <a:r>
              <a:rPr lang="en-US" b="true" sz="3193" spc="102">
                <a:solidFill>
                  <a:srgbClr val="FFFFFF"/>
                </a:solidFill>
                <a:latin typeface="Codec Pro Bold"/>
                <a:ea typeface="Codec Pro Bold"/>
                <a:cs typeface="Codec Pro Bold"/>
                <a:sym typeface="Codec Pro Bold"/>
              </a:rPr>
              <a:t>This study uses a linear regression model to investigate unemployment using Eurostat data. The analysis examines whether being richer, more educated, less rural, or simply located in the “right” part makes finding a job statistically easier.</a:t>
            </a:r>
          </a:p>
          <a:p>
            <a:pPr algn="ctr">
              <a:lnSpc>
                <a:spcPts val="4470"/>
              </a:lnSpc>
              <a:spcBef>
                <a:spcPct val="0"/>
              </a:spcBef>
            </a:pP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2"/>
            <a:stretch>
              <a:fillRect l="0" t="-38888" r="0" b="-38888"/>
            </a:stretch>
          </a:blipFill>
        </p:spPr>
      </p:sp>
      <p:sp>
        <p:nvSpPr>
          <p:cNvPr name="Freeform 3" id="3"/>
          <p:cNvSpPr/>
          <p:nvPr/>
        </p:nvSpPr>
        <p:spPr>
          <a:xfrm flipH="false" flipV="false" rot="0">
            <a:off x="0" y="0"/>
            <a:ext cx="10287000" cy="10287000"/>
          </a:xfrm>
          <a:custGeom>
            <a:avLst/>
            <a:gdLst/>
            <a:ahLst/>
            <a:cxnLst/>
            <a:rect r="r" b="b" t="t" l="l"/>
            <a:pathLst>
              <a:path h="10287000" w="10287000">
                <a:moveTo>
                  <a:pt x="0" y="0"/>
                </a:moveTo>
                <a:lnTo>
                  <a:pt x="10287000" y="0"/>
                </a:lnTo>
                <a:lnTo>
                  <a:pt x="10287000" y="10287000"/>
                </a:lnTo>
                <a:lnTo>
                  <a:pt x="0" y="102870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5201006" y="-1416307"/>
            <a:ext cx="4116588" cy="3555235"/>
          </a:xfrm>
          <a:custGeom>
            <a:avLst/>
            <a:gdLst/>
            <a:ahLst/>
            <a:cxnLst/>
            <a:rect r="r" b="b" t="t" l="l"/>
            <a:pathLst>
              <a:path h="3555235" w="4116588">
                <a:moveTo>
                  <a:pt x="0" y="0"/>
                </a:moveTo>
                <a:lnTo>
                  <a:pt x="4116588" y="0"/>
                </a:lnTo>
                <a:lnTo>
                  <a:pt x="4116588" y="3555235"/>
                </a:lnTo>
                <a:lnTo>
                  <a:pt x="0" y="355523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12018451" y="434520"/>
            <a:ext cx="4116588" cy="3555235"/>
          </a:xfrm>
          <a:custGeom>
            <a:avLst/>
            <a:gdLst/>
            <a:ahLst/>
            <a:cxnLst/>
            <a:rect r="r" b="b" t="t" l="l"/>
            <a:pathLst>
              <a:path h="3555235" w="4116588">
                <a:moveTo>
                  <a:pt x="0" y="0"/>
                </a:moveTo>
                <a:lnTo>
                  <a:pt x="4116589" y="0"/>
                </a:lnTo>
                <a:lnTo>
                  <a:pt x="4116589" y="3555235"/>
                </a:lnTo>
                <a:lnTo>
                  <a:pt x="0" y="355523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15290018" y="2222330"/>
            <a:ext cx="4116588" cy="3555235"/>
          </a:xfrm>
          <a:custGeom>
            <a:avLst/>
            <a:gdLst/>
            <a:ahLst/>
            <a:cxnLst/>
            <a:rect r="r" b="b" t="t" l="l"/>
            <a:pathLst>
              <a:path h="3555235" w="4116588">
                <a:moveTo>
                  <a:pt x="0" y="0"/>
                </a:moveTo>
                <a:lnTo>
                  <a:pt x="4116588" y="0"/>
                </a:lnTo>
                <a:lnTo>
                  <a:pt x="4116588" y="3555236"/>
                </a:lnTo>
                <a:lnTo>
                  <a:pt x="0" y="355523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7" id="7"/>
          <p:cNvSpPr txBox="true"/>
          <p:nvPr/>
        </p:nvSpPr>
        <p:spPr>
          <a:xfrm rot="0">
            <a:off x="550640" y="704752"/>
            <a:ext cx="13076644" cy="1160379"/>
          </a:xfrm>
          <a:prstGeom prst="rect">
            <a:avLst/>
          </a:prstGeom>
        </p:spPr>
        <p:txBody>
          <a:bodyPr anchor="t" rtlCol="false" tIns="0" lIns="0" bIns="0" rIns="0">
            <a:spAutoFit/>
          </a:bodyPr>
          <a:lstStyle/>
          <a:p>
            <a:pPr algn="l" marL="0" indent="0" lvl="0">
              <a:lnSpc>
                <a:spcPts val="8262"/>
              </a:lnSpc>
              <a:spcBef>
                <a:spcPct val="0"/>
              </a:spcBef>
            </a:pPr>
            <a:r>
              <a:rPr lang="en-US" b="true" sz="7184" spc="201">
                <a:solidFill>
                  <a:srgbClr val="FFFFFF"/>
                </a:solidFill>
                <a:latin typeface="Codec Pro Bold"/>
                <a:ea typeface="Codec Pro Bold"/>
                <a:cs typeface="Codec Pro Bold"/>
                <a:sym typeface="Codec Pro Bold"/>
              </a:rPr>
              <a:t>Literature review</a:t>
            </a:r>
          </a:p>
        </p:txBody>
      </p:sp>
      <p:sp>
        <p:nvSpPr>
          <p:cNvPr name="TextBox 8" id="8"/>
          <p:cNvSpPr txBox="true"/>
          <p:nvPr/>
        </p:nvSpPr>
        <p:spPr>
          <a:xfrm rot="0">
            <a:off x="0" y="1797398"/>
            <a:ext cx="18288000" cy="7460902"/>
          </a:xfrm>
          <a:prstGeom prst="rect">
            <a:avLst/>
          </a:prstGeom>
        </p:spPr>
        <p:txBody>
          <a:bodyPr anchor="t" rtlCol="false" tIns="0" lIns="0" bIns="0" rIns="0">
            <a:spAutoFit/>
          </a:bodyPr>
          <a:lstStyle/>
          <a:p>
            <a:pPr algn="ctr">
              <a:lnSpc>
                <a:spcPts val="4569"/>
              </a:lnSpc>
              <a:spcBef>
                <a:spcPct val="0"/>
              </a:spcBef>
            </a:pPr>
            <a:r>
              <a:rPr lang="en-US" b="true" sz="3263" spc="104">
                <a:solidFill>
                  <a:srgbClr val="FFFFFF"/>
                </a:solidFill>
                <a:latin typeface="Codec Pro Bold"/>
                <a:ea typeface="Codec Pro Bold"/>
                <a:cs typeface="Codec Pro Bold"/>
                <a:sym typeface="Codec Pro Bold"/>
              </a:rPr>
              <a:t>Regional labor market outcomes are primarily determined by macroeconomic performance, economic structure, and human capital. Classical theories view unemployment as the result of insufficient demand and structural mismatches, occurring when “the economic system fails to provide employment for all who are willing and able to work” (The Economics of Unemployment, by J. A. Hobbson, publisher: World Public). This framework supports analyzing unemployment as a function of regional economic characteristics rather than individual behavior.</a:t>
            </a:r>
          </a:p>
          <a:p>
            <a:pPr algn="ctr">
              <a:lnSpc>
                <a:spcPts val="4569"/>
              </a:lnSpc>
              <a:spcBef>
                <a:spcPct val="0"/>
              </a:spcBef>
            </a:pPr>
            <a:r>
              <a:rPr lang="en-US" b="true" sz="3263" spc="104">
                <a:solidFill>
                  <a:srgbClr val="FFFFFF"/>
                </a:solidFill>
                <a:latin typeface="Codec Pro Bold"/>
                <a:ea typeface="Codec Pro Bold"/>
                <a:cs typeface="Codec Pro Bold"/>
                <a:sym typeface="Codec Pro Bold"/>
              </a:rPr>
              <a:t> </a:t>
            </a:r>
          </a:p>
          <a:p>
            <a:pPr algn="ctr">
              <a:lnSpc>
                <a:spcPts val="4569"/>
              </a:lnSpc>
              <a:spcBef>
                <a:spcPct val="0"/>
              </a:spcBef>
            </a:pPr>
            <a:r>
              <a:rPr lang="en-US" b="true" sz="3263" spc="104">
                <a:solidFill>
                  <a:srgbClr val="FFFFFF"/>
                </a:solidFill>
                <a:latin typeface="Codec Pro Bold"/>
                <a:ea typeface="Codec Pro Bold"/>
                <a:cs typeface="Codec Pro Bold"/>
                <a:sym typeface="Codec Pro Bold"/>
              </a:rPr>
              <a:t>Economic output is a central explanatory factor. GDP growth is closely linked to employment creation, as “when real GDP is growing strongly, employment is likely to be increasing” (Gross Domestic Product: An Economy’s All, Tim Callen). Accordingly, GDP per capita is widely used as a proxy for regional economic development and is expected to be negatively associated with unemployment.</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2"/>
            <a:stretch>
              <a:fillRect l="0" t="-38888" r="0" b="-38888"/>
            </a:stretch>
          </a:blipFill>
        </p:spPr>
      </p:sp>
      <p:sp>
        <p:nvSpPr>
          <p:cNvPr name="Freeform 3" id="3"/>
          <p:cNvSpPr/>
          <p:nvPr/>
        </p:nvSpPr>
        <p:spPr>
          <a:xfrm flipH="false" flipV="false" rot="0">
            <a:off x="13965627" y="2558588"/>
            <a:ext cx="5221841" cy="4509772"/>
          </a:xfrm>
          <a:custGeom>
            <a:avLst/>
            <a:gdLst/>
            <a:ahLst/>
            <a:cxnLst/>
            <a:rect r="r" b="b" t="t" l="l"/>
            <a:pathLst>
              <a:path h="4509772" w="5221841">
                <a:moveTo>
                  <a:pt x="0" y="0"/>
                </a:moveTo>
                <a:lnTo>
                  <a:pt x="5221841" y="0"/>
                </a:lnTo>
                <a:lnTo>
                  <a:pt x="5221841" y="4509772"/>
                </a:lnTo>
                <a:lnTo>
                  <a:pt x="0" y="450977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2025332" y="5661199"/>
            <a:ext cx="2930312" cy="2530724"/>
          </a:xfrm>
          <a:custGeom>
            <a:avLst/>
            <a:gdLst/>
            <a:ahLst/>
            <a:cxnLst/>
            <a:rect r="r" b="b" t="t" l="l"/>
            <a:pathLst>
              <a:path h="2530724" w="2930312">
                <a:moveTo>
                  <a:pt x="0" y="0"/>
                </a:moveTo>
                <a:lnTo>
                  <a:pt x="2930312" y="0"/>
                </a:lnTo>
                <a:lnTo>
                  <a:pt x="2930312" y="2530724"/>
                </a:lnTo>
                <a:lnTo>
                  <a:pt x="0" y="253072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8804925" y="7237910"/>
            <a:ext cx="4209990" cy="3635901"/>
          </a:xfrm>
          <a:custGeom>
            <a:avLst/>
            <a:gdLst/>
            <a:ahLst/>
            <a:cxnLst/>
            <a:rect r="r" b="b" t="t" l="l"/>
            <a:pathLst>
              <a:path h="3635901" w="4209990">
                <a:moveTo>
                  <a:pt x="0" y="0"/>
                </a:moveTo>
                <a:lnTo>
                  <a:pt x="4209990" y="0"/>
                </a:lnTo>
                <a:lnTo>
                  <a:pt x="4209990" y="3635901"/>
                </a:lnTo>
                <a:lnTo>
                  <a:pt x="0" y="363590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0">
            <a:off x="8371939" y="4129940"/>
            <a:ext cx="7306785" cy="1260420"/>
          </a:xfrm>
          <a:custGeom>
            <a:avLst/>
            <a:gdLst/>
            <a:ahLst/>
            <a:cxnLst/>
            <a:rect r="r" b="b" t="t" l="l"/>
            <a:pathLst>
              <a:path h="1260420" w="7306785">
                <a:moveTo>
                  <a:pt x="0" y="0"/>
                </a:moveTo>
                <a:lnTo>
                  <a:pt x="7306785" y="0"/>
                </a:lnTo>
                <a:lnTo>
                  <a:pt x="7306785" y="1260420"/>
                </a:lnTo>
                <a:lnTo>
                  <a:pt x="0" y="1260420"/>
                </a:lnTo>
                <a:lnTo>
                  <a:pt x="0" y="0"/>
                </a:lnTo>
                <a:close/>
              </a:path>
            </a:pathLst>
          </a:custGeom>
          <a:blipFill>
            <a:blip r:embed="rId5"/>
            <a:stretch>
              <a:fillRect l="0" t="0" r="0" b="0"/>
            </a:stretch>
          </a:blipFill>
        </p:spPr>
      </p:sp>
      <p:sp>
        <p:nvSpPr>
          <p:cNvPr name="Freeform 7" id="7"/>
          <p:cNvSpPr/>
          <p:nvPr/>
        </p:nvSpPr>
        <p:spPr>
          <a:xfrm flipH="false" flipV="false" rot="0">
            <a:off x="8996107" y="6894961"/>
            <a:ext cx="5799264" cy="1109109"/>
          </a:xfrm>
          <a:custGeom>
            <a:avLst/>
            <a:gdLst/>
            <a:ahLst/>
            <a:cxnLst/>
            <a:rect r="r" b="b" t="t" l="l"/>
            <a:pathLst>
              <a:path h="1109109" w="5799264">
                <a:moveTo>
                  <a:pt x="0" y="0"/>
                </a:moveTo>
                <a:lnTo>
                  <a:pt x="5799264" y="0"/>
                </a:lnTo>
                <a:lnTo>
                  <a:pt x="5799264" y="1109110"/>
                </a:lnTo>
                <a:lnTo>
                  <a:pt x="0" y="1109110"/>
                </a:lnTo>
                <a:lnTo>
                  <a:pt x="0" y="0"/>
                </a:lnTo>
                <a:close/>
              </a:path>
            </a:pathLst>
          </a:custGeom>
          <a:blipFill>
            <a:blip r:embed="rId6"/>
            <a:stretch>
              <a:fillRect l="0" t="0" r="0" b="0"/>
            </a:stretch>
          </a:blipFill>
        </p:spPr>
      </p:sp>
      <p:sp>
        <p:nvSpPr>
          <p:cNvPr name="TextBox 8" id="8"/>
          <p:cNvSpPr txBox="true"/>
          <p:nvPr/>
        </p:nvSpPr>
        <p:spPr>
          <a:xfrm rot="0">
            <a:off x="737605" y="559780"/>
            <a:ext cx="10021443" cy="1131732"/>
          </a:xfrm>
          <a:prstGeom prst="rect">
            <a:avLst/>
          </a:prstGeom>
        </p:spPr>
        <p:txBody>
          <a:bodyPr anchor="t" rtlCol="false" tIns="0" lIns="0" bIns="0" rIns="0">
            <a:spAutoFit/>
          </a:bodyPr>
          <a:lstStyle/>
          <a:p>
            <a:pPr algn="l" marL="0" indent="0" lvl="0">
              <a:lnSpc>
                <a:spcPts val="8496"/>
              </a:lnSpc>
              <a:spcBef>
                <a:spcPct val="0"/>
              </a:spcBef>
            </a:pPr>
            <a:r>
              <a:rPr lang="en-US" b="true" sz="6068" spc="194">
                <a:solidFill>
                  <a:srgbClr val="FFFFFF"/>
                </a:solidFill>
                <a:latin typeface="Codec Pro Bold"/>
                <a:ea typeface="Codec Pro Bold"/>
                <a:cs typeface="Codec Pro Bold"/>
                <a:sym typeface="Codec Pro Bold"/>
              </a:rPr>
              <a:t>Methodology</a:t>
            </a:r>
          </a:p>
        </p:txBody>
      </p:sp>
      <p:sp>
        <p:nvSpPr>
          <p:cNvPr name="TextBox 9" id="9"/>
          <p:cNvSpPr txBox="true"/>
          <p:nvPr/>
        </p:nvSpPr>
        <p:spPr>
          <a:xfrm rot="0">
            <a:off x="2086247" y="1634362"/>
            <a:ext cx="15173053" cy="460593"/>
          </a:xfrm>
          <a:prstGeom prst="rect">
            <a:avLst/>
          </a:prstGeom>
        </p:spPr>
        <p:txBody>
          <a:bodyPr anchor="t" rtlCol="false" tIns="0" lIns="0" bIns="0" rIns="0">
            <a:spAutoFit/>
          </a:bodyPr>
          <a:lstStyle/>
          <a:p>
            <a:pPr algn="l" marL="0" indent="0" lvl="0">
              <a:lnSpc>
                <a:spcPts val="3719"/>
              </a:lnSpc>
              <a:spcBef>
                <a:spcPct val="0"/>
              </a:spcBef>
            </a:pPr>
            <a:r>
              <a:rPr lang="en-US" sz="2656">
                <a:solidFill>
                  <a:srgbClr val="EE82EE"/>
                </a:solidFill>
                <a:latin typeface="TT Drugs"/>
                <a:ea typeface="TT Drugs"/>
                <a:cs typeface="TT Drugs"/>
                <a:sym typeface="TT Drugs"/>
              </a:rPr>
              <a:t>Defining the Variables for Linear Regression Analysis at NUTS-2 level for the year 2022 </a:t>
            </a:r>
          </a:p>
        </p:txBody>
      </p:sp>
      <p:sp>
        <p:nvSpPr>
          <p:cNvPr name="TextBox 10" id="10"/>
          <p:cNvSpPr txBox="true"/>
          <p:nvPr/>
        </p:nvSpPr>
        <p:spPr>
          <a:xfrm rot="0">
            <a:off x="715226" y="2444288"/>
            <a:ext cx="626948" cy="610250"/>
          </a:xfrm>
          <a:prstGeom prst="rect">
            <a:avLst/>
          </a:prstGeom>
        </p:spPr>
        <p:txBody>
          <a:bodyPr anchor="t" rtlCol="false" tIns="0" lIns="0" bIns="0" rIns="0">
            <a:spAutoFit/>
          </a:bodyPr>
          <a:lstStyle/>
          <a:p>
            <a:pPr algn="l" marL="0" indent="0" lvl="0">
              <a:lnSpc>
                <a:spcPts val="4569"/>
              </a:lnSpc>
              <a:spcBef>
                <a:spcPct val="0"/>
              </a:spcBef>
            </a:pPr>
            <a:r>
              <a:rPr lang="en-US" b="true" sz="3263" spc="104">
                <a:solidFill>
                  <a:srgbClr val="EE82EE"/>
                </a:solidFill>
                <a:latin typeface="Codec Pro Bold"/>
                <a:ea typeface="Codec Pro Bold"/>
                <a:cs typeface="Codec Pro Bold"/>
                <a:sym typeface="Codec Pro Bold"/>
              </a:rPr>
              <a:t>01</a:t>
            </a:r>
          </a:p>
        </p:txBody>
      </p:sp>
      <p:sp>
        <p:nvSpPr>
          <p:cNvPr name="TextBox 11" id="11"/>
          <p:cNvSpPr txBox="true"/>
          <p:nvPr/>
        </p:nvSpPr>
        <p:spPr>
          <a:xfrm rot="0">
            <a:off x="715226" y="4533250"/>
            <a:ext cx="626948" cy="610250"/>
          </a:xfrm>
          <a:prstGeom prst="rect">
            <a:avLst/>
          </a:prstGeom>
        </p:spPr>
        <p:txBody>
          <a:bodyPr anchor="t" rtlCol="false" tIns="0" lIns="0" bIns="0" rIns="0">
            <a:spAutoFit/>
          </a:bodyPr>
          <a:lstStyle/>
          <a:p>
            <a:pPr algn="l" marL="0" indent="0" lvl="0">
              <a:lnSpc>
                <a:spcPts val="4569"/>
              </a:lnSpc>
              <a:spcBef>
                <a:spcPct val="0"/>
              </a:spcBef>
            </a:pPr>
            <a:r>
              <a:rPr lang="en-US" b="true" sz="3263" spc="104">
                <a:solidFill>
                  <a:srgbClr val="EE82EE"/>
                </a:solidFill>
                <a:latin typeface="Codec Pro Bold"/>
                <a:ea typeface="Codec Pro Bold"/>
                <a:cs typeface="Codec Pro Bold"/>
                <a:sym typeface="Codec Pro Bold"/>
              </a:rPr>
              <a:t>02</a:t>
            </a:r>
          </a:p>
        </p:txBody>
      </p:sp>
      <p:sp>
        <p:nvSpPr>
          <p:cNvPr name="TextBox 12" id="12"/>
          <p:cNvSpPr txBox="true"/>
          <p:nvPr/>
        </p:nvSpPr>
        <p:spPr>
          <a:xfrm rot="0">
            <a:off x="715226" y="7123610"/>
            <a:ext cx="626948" cy="610250"/>
          </a:xfrm>
          <a:prstGeom prst="rect">
            <a:avLst/>
          </a:prstGeom>
        </p:spPr>
        <p:txBody>
          <a:bodyPr anchor="t" rtlCol="false" tIns="0" lIns="0" bIns="0" rIns="0">
            <a:spAutoFit/>
          </a:bodyPr>
          <a:lstStyle/>
          <a:p>
            <a:pPr algn="l" marL="0" indent="0" lvl="0">
              <a:lnSpc>
                <a:spcPts val="4569"/>
              </a:lnSpc>
              <a:spcBef>
                <a:spcPct val="0"/>
              </a:spcBef>
            </a:pPr>
            <a:r>
              <a:rPr lang="en-US" b="true" sz="3263" spc="104">
                <a:solidFill>
                  <a:srgbClr val="EE82EE"/>
                </a:solidFill>
                <a:latin typeface="Codec Pro Bold"/>
                <a:ea typeface="Codec Pro Bold"/>
                <a:cs typeface="Codec Pro Bold"/>
                <a:sym typeface="Codec Pro Bold"/>
              </a:rPr>
              <a:t>03</a:t>
            </a:r>
          </a:p>
        </p:txBody>
      </p:sp>
      <p:sp>
        <p:nvSpPr>
          <p:cNvPr name="TextBox 13" id="13"/>
          <p:cNvSpPr txBox="true"/>
          <p:nvPr/>
        </p:nvSpPr>
        <p:spPr>
          <a:xfrm rot="0">
            <a:off x="1403521" y="4540598"/>
            <a:ext cx="7091243" cy="602902"/>
          </a:xfrm>
          <a:prstGeom prst="rect">
            <a:avLst/>
          </a:prstGeom>
        </p:spPr>
        <p:txBody>
          <a:bodyPr anchor="t" rtlCol="false" tIns="0" lIns="0" bIns="0" rIns="0">
            <a:spAutoFit/>
          </a:bodyPr>
          <a:lstStyle/>
          <a:p>
            <a:pPr algn="ctr">
              <a:lnSpc>
                <a:spcPts val="4569"/>
              </a:lnSpc>
              <a:spcBef>
                <a:spcPct val="0"/>
              </a:spcBef>
            </a:pPr>
            <a:r>
              <a:rPr lang="en-US" b="true" sz="3263" spc="104">
                <a:solidFill>
                  <a:srgbClr val="FFFFFF"/>
                </a:solidFill>
                <a:latin typeface="Codec Pro Bold"/>
                <a:ea typeface="Codec Pro Bold"/>
                <a:cs typeface="Codec Pro Bold"/>
                <a:sym typeface="Codec Pro Bold"/>
              </a:rPr>
              <a:t>Tertiary Education (% population)</a:t>
            </a:r>
          </a:p>
        </p:txBody>
      </p:sp>
      <p:sp>
        <p:nvSpPr>
          <p:cNvPr name="TextBox 14" id="14"/>
          <p:cNvSpPr txBox="true"/>
          <p:nvPr/>
        </p:nvSpPr>
        <p:spPr>
          <a:xfrm rot="0">
            <a:off x="1309865" y="7130957"/>
            <a:ext cx="7527370" cy="602902"/>
          </a:xfrm>
          <a:prstGeom prst="rect">
            <a:avLst/>
          </a:prstGeom>
        </p:spPr>
        <p:txBody>
          <a:bodyPr anchor="t" rtlCol="false" tIns="0" lIns="0" bIns="0" rIns="0">
            <a:spAutoFit/>
          </a:bodyPr>
          <a:lstStyle/>
          <a:p>
            <a:pPr algn="ctr">
              <a:lnSpc>
                <a:spcPts val="4569"/>
              </a:lnSpc>
              <a:spcBef>
                <a:spcPct val="0"/>
              </a:spcBef>
            </a:pPr>
            <a:r>
              <a:rPr lang="en-US" b="true" sz="3263" spc="104">
                <a:solidFill>
                  <a:srgbClr val="FFFFFF"/>
                </a:solidFill>
                <a:latin typeface="Codec Pro Bold"/>
                <a:ea typeface="Codec Pro Bold"/>
                <a:cs typeface="Codec Pro Bold"/>
                <a:sym typeface="Codec Pro Bold"/>
              </a:rPr>
              <a:t>Employment by agricultural activity</a:t>
            </a:r>
          </a:p>
        </p:txBody>
      </p:sp>
      <p:sp>
        <p:nvSpPr>
          <p:cNvPr name="TextBox 15" id="15"/>
          <p:cNvSpPr txBox="true"/>
          <p:nvPr/>
        </p:nvSpPr>
        <p:spPr>
          <a:xfrm rot="0">
            <a:off x="1413076" y="2451636"/>
            <a:ext cx="5221367" cy="602902"/>
          </a:xfrm>
          <a:prstGeom prst="rect">
            <a:avLst/>
          </a:prstGeom>
        </p:spPr>
        <p:txBody>
          <a:bodyPr anchor="t" rtlCol="false" tIns="0" lIns="0" bIns="0" rIns="0">
            <a:spAutoFit/>
          </a:bodyPr>
          <a:lstStyle/>
          <a:p>
            <a:pPr algn="ctr">
              <a:lnSpc>
                <a:spcPts val="4569"/>
              </a:lnSpc>
              <a:spcBef>
                <a:spcPct val="0"/>
              </a:spcBef>
            </a:pPr>
            <a:r>
              <a:rPr lang="en-US" b="true" sz="3263" spc="104">
                <a:solidFill>
                  <a:srgbClr val="FFFFFF"/>
                </a:solidFill>
                <a:latin typeface="Codec Pro Bold"/>
                <a:ea typeface="Codec Pro Bold"/>
                <a:cs typeface="Codec Pro Bold"/>
                <a:sym typeface="Codec Pro Bold"/>
              </a:rPr>
              <a:t>Unemployment Rate (%) </a:t>
            </a:r>
          </a:p>
        </p:txBody>
      </p:sp>
      <p:sp>
        <p:nvSpPr>
          <p:cNvPr name="TextBox 16" id="16"/>
          <p:cNvSpPr txBox="true"/>
          <p:nvPr/>
        </p:nvSpPr>
        <p:spPr>
          <a:xfrm rot="0">
            <a:off x="420282" y="2962177"/>
            <a:ext cx="17751804" cy="1228376"/>
          </a:xfrm>
          <a:prstGeom prst="rect">
            <a:avLst/>
          </a:prstGeom>
        </p:spPr>
        <p:txBody>
          <a:bodyPr anchor="t" rtlCol="false" tIns="0" lIns="0" bIns="0" rIns="0">
            <a:spAutoFit/>
          </a:bodyPr>
          <a:lstStyle/>
          <a:p>
            <a:pPr algn="l">
              <a:lnSpc>
                <a:spcPts val="3169"/>
              </a:lnSpc>
              <a:spcBef>
                <a:spcPct val="0"/>
              </a:spcBef>
            </a:pPr>
            <a:r>
              <a:rPr lang="en-US" b="true" sz="2263" spc="72">
                <a:solidFill>
                  <a:srgbClr val="FFFFFF"/>
                </a:solidFill>
                <a:latin typeface="Codec Pro Bold"/>
                <a:ea typeface="Codec Pro Bold"/>
                <a:cs typeface="Codec Pro Bold"/>
                <a:sym typeface="Codec Pro Bold"/>
              </a:rPr>
              <a:t>                 </a:t>
            </a:r>
            <a:r>
              <a:rPr lang="en-US" b="true" sz="2263" spc="72">
                <a:solidFill>
                  <a:srgbClr val="FFFFFF"/>
                </a:solidFill>
                <a:latin typeface="Codec Pro Bold"/>
                <a:ea typeface="Codec Pro Bold"/>
                <a:cs typeface="Codec Pro Bold"/>
                <a:sym typeface="Codec Pro Bold"/>
              </a:rPr>
              <a:t>Dependent variable, defined as the percentage of the labour force that is unemployed (persons without work, available for work, and actively seeking work in the reference period). This is an ILO-standardized rate for ages 15–74, sourced from the EU Labour Force Survey .</a:t>
            </a:r>
          </a:p>
        </p:txBody>
      </p:sp>
      <p:sp>
        <p:nvSpPr>
          <p:cNvPr name="TextBox 17" id="17"/>
          <p:cNvSpPr txBox="true"/>
          <p:nvPr/>
        </p:nvSpPr>
        <p:spPr>
          <a:xfrm rot="0">
            <a:off x="430762" y="5485610"/>
            <a:ext cx="17519976" cy="1228376"/>
          </a:xfrm>
          <a:prstGeom prst="rect">
            <a:avLst/>
          </a:prstGeom>
        </p:spPr>
        <p:txBody>
          <a:bodyPr anchor="t" rtlCol="false" tIns="0" lIns="0" bIns="0" rIns="0">
            <a:spAutoFit/>
          </a:bodyPr>
          <a:lstStyle/>
          <a:p>
            <a:pPr algn="just">
              <a:lnSpc>
                <a:spcPts val="3169"/>
              </a:lnSpc>
              <a:spcBef>
                <a:spcPct val="0"/>
              </a:spcBef>
            </a:pPr>
            <a:r>
              <a:rPr lang="en-US" b="true" sz="2263" spc="72">
                <a:solidFill>
                  <a:srgbClr val="FFFFFF"/>
                </a:solidFill>
                <a:latin typeface="Codec Pro Bold"/>
                <a:ea typeface="Codec Pro Bold"/>
                <a:cs typeface="Codec Pro Bold"/>
                <a:sym typeface="Codec Pro Bold"/>
              </a:rPr>
              <a:t>          Independent variable, the share of adult population a tertiary (higher) education (ISCED levels 5–8). It is computed as the percentage of people who have successfully completed a university or equivalent level of education. This is a proxy for human capital; regions with a higher skilled workforce may experience lower unemployment .</a:t>
            </a:r>
          </a:p>
        </p:txBody>
      </p:sp>
      <p:sp>
        <p:nvSpPr>
          <p:cNvPr name="TextBox 18" id="18"/>
          <p:cNvSpPr txBox="true"/>
          <p:nvPr/>
        </p:nvSpPr>
        <p:spPr>
          <a:xfrm rot="0">
            <a:off x="753106" y="8106198"/>
            <a:ext cx="16875288" cy="1228376"/>
          </a:xfrm>
          <a:prstGeom prst="rect">
            <a:avLst/>
          </a:prstGeom>
        </p:spPr>
        <p:txBody>
          <a:bodyPr anchor="t" rtlCol="false" tIns="0" lIns="0" bIns="0" rIns="0">
            <a:spAutoFit/>
          </a:bodyPr>
          <a:lstStyle/>
          <a:p>
            <a:pPr algn="ctr">
              <a:lnSpc>
                <a:spcPts val="3169"/>
              </a:lnSpc>
              <a:spcBef>
                <a:spcPct val="0"/>
              </a:spcBef>
            </a:pPr>
            <a:r>
              <a:rPr lang="en-US" b="true" sz="2263" spc="72">
                <a:solidFill>
                  <a:srgbClr val="FFFFFF"/>
                </a:solidFill>
                <a:latin typeface="Codec Pro Bold"/>
                <a:ea typeface="Codec Pro Bold"/>
                <a:cs typeface="Codec Pro Bold"/>
                <a:sym typeface="Codec Pro Bold"/>
              </a:rPr>
              <a:t> Independent variable, the proportion of total regional employment in the agriculture, forestry and fishing sector. This indicator reflects the economic structure of the region (primary-sector dependence). Regions with very high agricultural shares (rural) may have different unemployment dynamics compared to industrial regions.</a:t>
            </a:r>
          </a:p>
        </p:txBody>
      </p:sp>
      <p:sp>
        <p:nvSpPr>
          <p:cNvPr name="TextBox 19" id="19"/>
          <p:cNvSpPr txBox="true"/>
          <p:nvPr/>
        </p:nvSpPr>
        <p:spPr>
          <a:xfrm rot="0">
            <a:off x="6701118" y="2444288"/>
            <a:ext cx="11249620" cy="602902"/>
          </a:xfrm>
          <a:prstGeom prst="rect">
            <a:avLst/>
          </a:prstGeom>
        </p:spPr>
        <p:txBody>
          <a:bodyPr anchor="t" rtlCol="false" tIns="0" lIns="0" bIns="0" rIns="0">
            <a:spAutoFit/>
          </a:bodyPr>
          <a:lstStyle/>
          <a:p>
            <a:pPr algn="ctr">
              <a:lnSpc>
                <a:spcPts val="4569"/>
              </a:lnSpc>
              <a:spcBef>
                <a:spcPct val="0"/>
              </a:spcBef>
            </a:pPr>
            <a:r>
              <a:rPr lang="en-US" b="true" sz="3263" spc="104">
                <a:solidFill>
                  <a:srgbClr val="FFFFFF"/>
                </a:solidFill>
                <a:latin typeface="Codec Pro Bold"/>
                <a:ea typeface="Codec Pro Bold"/>
                <a:cs typeface="Codec Pro Bold"/>
                <a:sym typeface="Codec Pro Bold"/>
              </a:rPr>
              <a:t>=(Number of Unemployed Persons/ Labour Force)​×100</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2"/>
            <a:stretch>
              <a:fillRect l="0" t="-38888" r="0" b="-38888"/>
            </a:stretch>
          </a:blipFill>
        </p:spPr>
      </p:sp>
      <p:sp>
        <p:nvSpPr>
          <p:cNvPr name="Freeform 3" id="3"/>
          <p:cNvSpPr/>
          <p:nvPr/>
        </p:nvSpPr>
        <p:spPr>
          <a:xfrm flipH="false" flipV="false" rot="0">
            <a:off x="7834013" y="0"/>
            <a:ext cx="4682549" cy="4044020"/>
          </a:xfrm>
          <a:custGeom>
            <a:avLst/>
            <a:gdLst/>
            <a:ahLst/>
            <a:cxnLst/>
            <a:rect r="r" b="b" t="t" l="l"/>
            <a:pathLst>
              <a:path h="4044020" w="4682549">
                <a:moveTo>
                  <a:pt x="0" y="0"/>
                </a:moveTo>
                <a:lnTo>
                  <a:pt x="4682549" y="0"/>
                </a:lnTo>
                <a:lnTo>
                  <a:pt x="4682549" y="4044020"/>
                </a:lnTo>
                <a:lnTo>
                  <a:pt x="0" y="404402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1866459" y="4044020"/>
            <a:ext cx="2930312" cy="2530724"/>
          </a:xfrm>
          <a:custGeom>
            <a:avLst/>
            <a:gdLst/>
            <a:ahLst/>
            <a:cxnLst/>
            <a:rect r="r" b="b" t="t" l="l"/>
            <a:pathLst>
              <a:path h="2530724" w="2930312">
                <a:moveTo>
                  <a:pt x="0" y="0"/>
                </a:moveTo>
                <a:lnTo>
                  <a:pt x="2930312" y="0"/>
                </a:lnTo>
                <a:lnTo>
                  <a:pt x="2930312" y="2530724"/>
                </a:lnTo>
                <a:lnTo>
                  <a:pt x="0" y="253072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4328988" y="5956418"/>
            <a:ext cx="5163932" cy="4459760"/>
          </a:xfrm>
          <a:custGeom>
            <a:avLst/>
            <a:gdLst/>
            <a:ahLst/>
            <a:cxnLst/>
            <a:rect r="r" b="b" t="t" l="l"/>
            <a:pathLst>
              <a:path h="4459760" w="5163932">
                <a:moveTo>
                  <a:pt x="0" y="0"/>
                </a:moveTo>
                <a:lnTo>
                  <a:pt x="5163932" y="0"/>
                </a:lnTo>
                <a:lnTo>
                  <a:pt x="5163932" y="4459760"/>
                </a:lnTo>
                <a:lnTo>
                  <a:pt x="0" y="445976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0">
            <a:off x="8680314" y="4056339"/>
            <a:ext cx="3593670" cy="1087161"/>
          </a:xfrm>
          <a:custGeom>
            <a:avLst/>
            <a:gdLst/>
            <a:ahLst/>
            <a:cxnLst/>
            <a:rect r="r" b="b" t="t" l="l"/>
            <a:pathLst>
              <a:path h="1087161" w="3593670">
                <a:moveTo>
                  <a:pt x="0" y="0"/>
                </a:moveTo>
                <a:lnTo>
                  <a:pt x="3593669" y="0"/>
                </a:lnTo>
                <a:lnTo>
                  <a:pt x="3593669" y="1087161"/>
                </a:lnTo>
                <a:lnTo>
                  <a:pt x="0" y="1087161"/>
                </a:lnTo>
                <a:lnTo>
                  <a:pt x="0" y="0"/>
                </a:lnTo>
                <a:close/>
              </a:path>
            </a:pathLst>
          </a:custGeom>
          <a:blipFill>
            <a:blip r:embed="rId5"/>
            <a:stretch>
              <a:fillRect l="0" t="0" r="0" b="0"/>
            </a:stretch>
          </a:blipFill>
        </p:spPr>
      </p:sp>
      <p:sp>
        <p:nvSpPr>
          <p:cNvPr name="Freeform 7" id="7"/>
          <p:cNvSpPr/>
          <p:nvPr/>
        </p:nvSpPr>
        <p:spPr>
          <a:xfrm flipH="false" flipV="false" rot="0">
            <a:off x="8246033" y="6793819"/>
            <a:ext cx="9336057" cy="1563790"/>
          </a:xfrm>
          <a:custGeom>
            <a:avLst/>
            <a:gdLst/>
            <a:ahLst/>
            <a:cxnLst/>
            <a:rect r="r" b="b" t="t" l="l"/>
            <a:pathLst>
              <a:path h="1563790" w="9336057">
                <a:moveTo>
                  <a:pt x="0" y="0"/>
                </a:moveTo>
                <a:lnTo>
                  <a:pt x="9336058" y="0"/>
                </a:lnTo>
                <a:lnTo>
                  <a:pt x="9336058" y="1563789"/>
                </a:lnTo>
                <a:lnTo>
                  <a:pt x="0" y="1563789"/>
                </a:lnTo>
                <a:lnTo>
                  <a:pt x="0" y="0"/>
                </a:lnTo>
                <a:close/>
              </a:path>
            </a:pathLst>
          </a:custGeom>
          <a:blipFill>
            <a:blip r:embed="rId6"/>
            <a:stretch>
              <a:fillRect l="0" t="0" r="0" b="0"/>
            </a:stretch>
          </a:blipFill>
        </p:spPr>
      </p:sp>
      <p:sp>
        <p:nvSpPr>
          <p:cNvPr name="TextBox 8" id="8"/>
          <p:cNvSpPr txBox="true"/>
          <p:nvPr/>
        </p:nvSpPr>
        <p:spPr>
          <a:xfrm rot="0">
            <a:off x="678028" y="501463"/>
            <a:ext cx="10021443" cy="1131732"/>
          </a:xfrm>
          <a:prstGeom prst="rect">
            <a:avLst/>
          </a:prstGeom>
        </p:spPr>
        <p:txBody>
          <a:bodyPr anchor="t" rtlCol="false" tIns="0" lIns="0" bIns="0" rIns="0">
            <a:spAutoFit/>
          </a:bodyPr>
          <a:lstStyle/>
          <a:p>
            <a:pPr algn="l" marL="0" indent="0" lvl="0">
              <a:lnSpc>
                <a:spcPts val="8496"/>
              </a:lnSpc>
              <a:spcBef>
                <a:spcPct val="0"/>
              </a:spcBef>
            </a:pPr>
            <a:r>
              <a:rPr lang="en-US" b="true" sz="6068" spc="194">
                <a:solidFill>
                  <a:srgbClr val="FFFFFF"/>
                </a:solidFill>
                <a:latin typeface="Codec Pro Bold"/>
                <a:ea typeface="Codec Pro Bold"/>
                <a:cs typeface="Codec Pro Bold"/>
                <a:sym typeface="Codec Pro Bold"/>
              </a:rPr>
              <a:t>Methodology</a:t>
            </a:r>
          </a:p>
        </p:txBody>
      </p:sp>
      <p:sp>
        <p:nvSpPr>
          <p:cNvPr name="TextBox 9" id="9"/>
          <p:cNvSpPr txBox="true"/>
          <p:nvPr/>
        </p:nvSpPr>
        <p:spPr>
          <a:xfrm rot="0">
            <a:off x="678028" y="2281942"/>
            <a:ext cx="626948" cy="610250"/>
          </a:xfrm>
          <a:prstGeom prst="rect">
            <a:avLst/>
          </a:prstGeom>
        </p:spPr>
        <p:txBody>
          <a:bodyPr anchor="t" rtlCol="false" tIns="0" lIns="0" bIns="0" rIns="0">
            <a:spAutoFit/>
          </a:bodyPr>
          <a:lstStyle/>
          <a:p>
            <a:pPr algn="l" marL="0" indent="0" lvl="0">
              <a:lnSpc>
                <a:spcPts val="4569"/>
              </a:lnSpc>
              <a:spcBef>
                <a:spcPct val="0"/>
              </a:spcBef>
            </a:pPr>
            <a:r>
              <a:rPr lang="en-US" b="true" sz="3263" spc="104">
                <a:solidFill>
                  <a:srgbClr val="EE82EE"/>
                </a:solidFill>
                <a:latin typeface="Codec Pro Bold"/>
                <a:ea typeface="Codec Pro Bold"/>
                <a:cs typeface="Codec Pro Bold"/>
                <a:sym typeface="Codec Pro Bold"/>
              </a:rPr>
              <a:t>04</a:t>
            </a:r>
          </a:p>
        </p:txBody>
      </p:sp>
      <p:sp>
        <p:nvSpPr>
          <p:cNvPr name="TextBox 10" id="10"/>
          <p:cNvSpPr txBox="true"/>
          <p:nvPr/>
        </p:nvSpPr>
        <p:spPr>
          <a:xfrm rot="0">
            <a:off x="678028" y="4272682"/>
            <a:ext cx="626948" cy="610250"/>
          </a:xfrm>
          <a:prstGeom prst="rect">
            <a:avLst/>
          </a:prstGeom>
        </p:spPr>
        <p:txBody>
          <a:bodyPr anchor="t" rtlCol="false" tIns="0" lIns="0" bIns="0" rIns="0">
            <a:spAutoFit/>
          </a:bodyPr>
          <a:lstStyle/>
          <a:p>
            <a:pPr algn="l" marL="0" indent="0" lvl="0">
              <a:lnSpc>
                <a:spcPts val="4569"/>
              </a:lnSpc>
              <a:spcBef>
                <a:spcPct val="0"/>
              </a:spcBef>
            </a:pPr>
            <a:r>
              <a:rPr lang="en-US" b="true" sz="3263" spc="104">
                <a:solidFill>
                  <a:srgbClr val="EE82EE"/>
                </a:solidFill>
                <a:latin typeface="Codec Pro Bold"/>
                <a:ea typeface="Codec Pro Bold"/>
                <a:cs typeface="Codec Pro Bold"/>
                <a:sym typeface="Codec Pro Bold"/>
              </a:rPr>
              <a:t>05</a:t>
            </a:r>
          </a:p>
        </p:txBody>
      </p:sp>
      <p:sp>
        <p:nvSpPr>
          <p:cNvPr name="TextBox 11" id="11"/>
          <p:cNvSpPr txBox="true"/>
          <p:nvPr/>
        </p:nvSpPr>
        <p:spPr>
          <a:xfrm rot="0">
            <a:off x="678028" y="6972758"/>
            <a:ext cx="626948" cy="610250"/>
          </a:xfrm>
          <a:prstGeom prst="rect">
            <a:avLst/>
          </a:prstGeom>
        </p:spPr>
        <p:txBody>
          <a:bodyPr anchor="t" rtlCol="false" tIns="0" lIns="0" bIns="0" rIns="0">
            <a:spAutoFit/>
          </a:bodyPr>
          <a:lstStyle/>
          <a:p>
            <a:pPr algn="l" marL="0" indent="0" lvl="0">
              <a:lnSpc>
                <a:spcPts val="4569"/>
              </a:lnSpc>
              <a:spcBef>
                <a:spcPct val="0"/>
              </a:spcBef>
            </a:pPr>
            <a:r>
              <a:rPr lang="en-US" b="true" sz="3263" spc="104">
                <a:solidFill>
                  <a:srgbClr val="EE82EE"/>
                </a:solidFill>
                <a:latin typeface="Codec Pro Bold"/>
                <a:ea typeface="Codec Pro Bold"/>
                <a:cs typeface="Codec Pro Bold"/>
                <a:sym typeface="Codec Pro Bold"/>
              </a:rPr>
              <a:t>06</a:t>
            </a:r>
          </a:p>
        </p:txBody>
      </p:sp>
      <p:sp>
        <p:nvSpPr>
          <p:cNvPr name="TextBox 12" id="12"/>
          <p:cNvSpPr txBox="true"/>
          <p:nvPr/>
        </p:nvSpPr>
        <p:spPr>
          <a:xfrm rot="0">
            <a:off x="1376931" y="2285616"/>
            <a:ext cx="4289584" cy="602902"/>
          </a:xfrm>
          <a:prstGeom prst="rect">
            <a:avLst/>
          </a:prstGeom>
        </p:spPr>
        <p:txBody>
          <a:bodyPr anchor="t" rtlCol="false" tIns="0" lIns="0" bIns="0" rIns="0">
            <a:spAutoFit/>
          </a:bodyPr>
          <a:lstStyle/>
          <a:p>
            <a:pPr algn="ctr">
              <a:lnSpc>
                <a:spcPts val="4569"/>
              </a:lnSpc>
              <a:spcBef>
                <a:spcPct val="0"/>
              </a:spcBef>
            </a:pPr>
            <a:r>
              <a:rPr lang="en-US" b="true" sz="3263" spc="104">
                <a:solidFill>
                  <a:srgbClr val="FFFFFF"/>
                </a:solidFill>
                <a:latin typeface="Codec Pro Bold"/>
                <a:ea typeface="Codec Pro Bold"/>
                <a:cs typeface="Codec Pro Bold"/>
                <a:sym typeface="Codec Pro Bold"/>
              </a:rPr>
              <a:t>GDP per Capita PPS </a:t>
            </a:r>
          </a:p>
        </p:txBody>
      </p:sp>
      <p:sp>
        <p:nvSpPr>
          <p:cNvPr name="TextBox 13" id="13"/>
          <p:cNvSpPr txBox="true"/>
          <p:nvPr/>
        </p:nvSpPr>
        <p:spPr>
          <a:xfrm rot="0">
            <a:off x="1416072" y="4276356"/>
            <a:ext cx="7155239" cy="602902"/>
          </a:xfrm>
          <a:prstGeom prst="rect">
            <a:avLst/>
          </a:prstGeom>
        </p:spPr>
        <p:txBody>
          <a:bodyPr anchor="t" rtlCol="false" tIns="0" lIns="0" bIns="0" rIns="0">
            <a:spAutoFit/>
          </a:bodyPr>
          <a:lstStyle/>
          <a:p>
            <a:pPr algn="ctr">
              <a:lnSpc>
                <a:spcPts val="4569"/>
              </a:lnSpc>
              <a:spcBef>
                <a:spcPct val="0"/>
              </a:spcBef>
            </a:pPr>
            <a:r>
              <a:rPr lang="en-US" b="true" sz="3263" spc="104">
                <a:solidFill>
                  <a:srgbClr val="FFFFFF"/>
                </a:solidFill>
                <a:latin typeface="Codec Pro Bold"/>
                <a:ea typeface="Codec Pro Bold"/>
                <a:cs typeface="Codec Pro Bold"/>
                <a:sym typeface="Codec Pro Bold"/>
              </a:rPr>
              <a:t>Population Density (persons/km²) </a:t>
            </a:r>
          </a:p>
        </p:txBody>
      </p:sp>
      <p:sp>
        <p:nvSpPr>
          <p:cNvPr name="TextBox 14" id="14"/>
          <p:cNvSpPr txBox="true"/>
          <p:nvPr/>
        </p:nvSpPr>
        <p:spPr>
          <a:xfrm rot="0">
            <a:off x="1354696" y="6980106"/>
            <a:ext cx="6891338" cy="602902"/>
          </a:xfrm>
          <a:prstGeom prst="rect">
            <a:avLst/>
          </a:prstGeom>
        </p:spPr>
        <p:txBody>
          <a:bodyPr anchor="t" rtlCol="false" tIns="0" lIns="0" bIns="0" rIns="0">
            <a:spAutoFit/>
          </a:bodyPr>
          <a:lstStyle/>
          <a:p>
            <a:pPr algn="ctr">
              <a:lnSpc>
                <a:spcPts val="4569"/>
              </a:lnSpc>
              <a:spcBef>
                <a:spcPct val="0"/>
              </a:spcBef>
            </a:pPr>
            <a:r>
              <a:rPr lang="en-US" b="true" sz="3263" spc="104">
                <a:solidFill>
                  <a:srgbClr val="FFFFFF"/>
                </a:solidFill>
                <a:latin typeface="Codec Pro Bold"/>
                <a:ea typeface="Codec Pro Bold"/>
                <a:cs typeface="Codec Pro Bold"/>
                <a:sym typeface="Codec Pro Bold"/>
              </a:rPr>
              <a:t>CEE Dummy (Eastern Europe =1): </a:t>
            </a:r>
          </a:p>
        </p:txBody>
      </p:sp>
      <p:sp>
        <p:nvSpPr>
          <p:cNvPr name="TextBox 15" id="15"/>
          <p:cNvSpPr txBox="true"/>
          <p:nvPr/>
        </p:nvSpPr>
        <p:spPr>
          <a:xfrm rot="0">
            <a:off x="268098" y="2914260"/>
            <a:ext cx="17751804" cy="1199515"/>
          </a:xfrm>
          <a:prstGeom prst="rect">
            <a:avLst/>
          </a:prstGeom>
        </p:spPr>
        <p:txBody>
          <a:bodyPr anchor="t" rtlCol="false" tIns="0" lIns="0" bIns="0" rIns="0">
            <a:spAutoFit/>
          </a:bodyPr>
          <a:lstStyle/>
          <a:p>
            <a:pPr algn="ctr">
              <a:lnSpc>
                <a:spcPts val="3079"/>
              </a:lnSpc>
            </a:pPr>
            <a:r>
              <a:rPr lang="en-US" b="true" sz="2199" spc="70">
                <a:solidFill>
                  <a:srgbClr val="FFFFFF"/>
                </a:solidFill>
                <a:latin typeface="Codec Pro Bold"/>
                <a:ea typeface="Codec Pro Bold"/>
                <a:cs typeface="Codec Pro Bold"/>
                <a:sym typeface="Codec Pro Bold"/>
              </a:rPr>
              <a:t>Independent variable measured as regional gross domestic product per inhabitant in purchasing power standards, as a percentage of the EU27 average. This indicator captures regional economic prosperity adjusted for price level differences.</a:t>
            </a:r>
          </a:p>
          <a:p>
            <a:pPr algn="ctr">
              <a:lnSpc>
                <a:spcPts val="3079"/>
              </a:lnSpc>
              <a:spcBef>
                <a:spcPct val="0"/>
              </a:spcBef>
            </a:pPr>
          </a:p>
        </p:txBody>
      </p:sp>
      <p:sp>
        <p:nvSpPr>
          <p:cNvPr name="TextBox 16" id="16"/>
          <p:cNvSpPr txBox="true"/>
          <p:nvPr/>
        </p:nvSpPr>
        <p:spPr>
          <a:xfrm rot="0">
            <a:off x="436900" y="5200936"/>
            <a:ext cx="17851100" cy="1203325"/>
          </a:xfrm>
          <a:prstGeom prst="rect">
            <a:avLst/>
          </a:prstGeom>
        </p:spPr>
        <p:txBody>
          <a:bodyPr anchor="t" rtlCol="false" tIns="0" lIns="0" bIns="0" rIns="0">
            <a:spAutoFit/>
          </a:bodyPr>
          <a:lstStyle/>
          <a:p>
            <a:pPr algn="ctr">
              <a:lnSpc>
                <a:spcPts val="3079"/>
              </a:lnSpc>
              <a:spcBef>
                <a:spcPct val="0"/>
              </a:spcBef>
            </a:pPr>
            <a:r>
              <a:rPr lang="en-US" b="true" sz="2199" spc="70">
                <a:solidFill>
                  <a:srgbClr val="FFFFFF"/>
                </a:solidFill>
                <a:latin typeface="Codec Pro Bold"/>
                <a:ea typeface="Codec Pro Bold"/>
                <a:cs typeface="Codec Pro Bold"/>
                <a:sym typeface="Codec Pro Bold"/>
              </a:rPr>
              <a:t>Independent variable, number of inhabitants per square kilometer in the region. This serves as a proxy for urbanization. Densely populated, urban regions often benefit from agglomeration economies that can lower unemployment, whereas sparsely populated regions may face structural unemployment challenges. </a:t>
            </a:r>
          </a:p>
        </p:txBody>
      </p:sp>
      <p:sp>
        <p:nvSpPr>
          <p:cNvPr name="TextBox 17" id="17"/>
          <p:cNvSpPr txBox="true"/>
          <p:nvPr/>
        </p:nvSpPr>
        <p:spPr>
          <a:xfrm rot="0">
            <a:off x="744139" y="8414758"/>
            <a:ext cx="16799722" cy="1203325"/>
          </a:xfrm>
          <a:prstGeom prst="rect">
            <a:avLst/>
          </a:prstGeom>
        </p:spPr>
        <p:txBody>
          <a:bodyPr anchor="t" rtlCol="false" tIns="0" lIns="0" bIns="0" rIns="0">
            <a:spAutoFit/>
          </a:bodyPr>
          <a:lstStyle/>
          <a:p>
            <a:pPr algn="ctr">
              <a:lnSpc>
                <a:spcPts val="3079"/>
              </a:lnSpc>
              <a:spcBef>
                <a:spcPct val="0"/>
              </a:spcBef>
            </a:pPr>
            <a:r>
              <a:rPr lang="en-US" b="true" sz="2199" spc="70">
                <a:solidFill>
                  <a:srgbClr val="FFFFFF"/>
                </a:solidFill>
                <a:latin typeface="Codec Pro Bold"/>
                <a:ea typeface="Codec Pro Bold"/>
                <a:cs typeface="Codec Pro Bold"/>
                <a:sym typeface="Codec Pro Bold"/>
              </a:rPr>
              <a:t>Independent dummy variable. Binary variable equal to 1 for regions located in Central and Eastern European EU member states (Bulgaria, Czechia, Estonia) and 0 otherwise. The dummy captures structural and historical differences in labor markets between post-socialist economies and older EU member states.</a:t>
            </a:r>
          </a:p>
        </p:txBody>
      </p:sp>
      <p:sp>
        <p:nvSpPr>
          <p:cNvPr name="TextBox 18" id="18"/>
          <p:cNvSpPr txBox="true"/>
          <p:nvPr/>
        </p:nvSpPr>
        <p:spPr>
          <a:xfrm rot="0">
            <a:off x="5994280" y="2281942"/>
            <a:ext cx="8083987" cy="602902"/>
          </a:xfrm>
          <a:prstGeom prst="rect">
            <a:avLst/>
          </a:prstGeom>
        </p:spPr>
        <p:txBody>
          <a:bodyPr anchor="t" rtlCol="false" tIns="0" lIns="0" bIns="0" rIns="0">
            <a:spAutoFit/>
          </a:bodyPr>
          <a:lstStyle/>
          <a:p>
            <a:pPr algn="ctr">
              <a:lnSpc>
                <a:spcPts val="4569"/>
              </a:lnSpc>
              <a:spcBef>
                <a:spcPct val="0"/>
              </a:spcBef>
            </a:pPr>
            <a:r>
              <a:rPr lang="en-US" b="true" sz="3263" spc="104">
                <a:solidFill>
                  <a:srgbClr val="FFFFFF"/>
                </a:solidFill>
                <a:latin typeface="Codec Pro Bold"/>
                <a:ea typeface="Codec Pro Bold"/>
                <a:cs typeface="Codec Pro Bold"/>
                <a:sym typeface="Codec Pro Bold"/>
              </a:rPr>
              <a:t>=Total Regional GDP / Total Population​</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2"/>
            <a:stretch>
              <a:fillRect l="0" t="-38888" r="0" b="-38888"/>
            </a:stretch>
          </a:blipFill>
        </p:spPr>
      </p:sp>
      <p:sp>
        <p:nvSpPr>
          <p:cNvPr name="Freeform 3" id="3"/>
          <p:cNvSpPr/>
          <p:nvPr/>
        </p:nvSpPr>
        <p:spPr>
          <a:xfrm flipH="false" flipV="false" rot="0">
            <a:off x="9718725" y="1717725"/>
            <a:ext cx="8569275" cy="8569275"/>
          </a:xfrm>
          <a:custGeom>
            <a:avLst/>
            <a:gdLst/>
            <a:ahLst/>
            <a:cxnLst/>
            <a:rect r="r" b="b" t="t" l="l"/>
            <a:pathLst>
              <a:path h="8569275" w="8569275">
                <a:moveTo>
                  <a:pt x="0" y="0"/>
                </a:moveTo>
                <a:lnTo>
                  <a:pt x="8569275" y="0"/>
                </a:lnTo>
                <a:lnTo>
                  <a:pt x="8569275" y="8569275"/>
                </a:lnTo>
                <a:lnTo>
                  <a:pt x="0" y="856927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550640" y="704752"/>
            <a:ext cx="9402710" cy="1160379"/>
          </a:xfrm>
          <a:prstGeom prst="rect">
            <a:avLst/>
          </a:prstGeom>
        </p:spPr>
        <p:txBody>
          <a:bodyPr anchor="t" rtlCol="false" tIns="0" lIns="0" bIns="0" rIns="0">
            <a:spAutoFit/>
          </a:bodyPr>
          <a:lstStyle/>
          <a:p>
            <a:pPr algn="l" marL="0" indent="0" lvl="0">
              <a:lnSpc>
                <a:spcPts val="8262"/>
              </a:lnSpc>
              <a:spcBef>
                <a:spcPct val="0"/>
              </a:spcBef>
            </a:pPr>
            <a:r>
              <a:rPr lang="en-US" b="true" sz="7184" spc="201">
                <a:solidFill>
                  <a:srgbClr val="FFFFFF"/>
                </a:solidFill>
                <a:latin typeface="Codec Pro Bold"/>
                <a:ea typeface="Codec Pro Bold"/>
                <a:cs typeface="Codec Pro Bold"/>
                <a:sym typeface="Codec Pro Bold"/>
              </a:rPr>
              <a:t>Data Cleaning</a:t>
            </a:r>
          </a:p>
        </p:txBody>
      </p:sp>
      <p:sp>
        <p:nvSpPr>
          <p:cNvPr name="Freeform 5" id="5"/>
          <p:cNvSpPr/>
          <p:nvPr/>
        </p:nvSpPr>
        <p:spPr>
          <a:xfrm flipH="false" flipV="false" rot="3812006">
            <a:off x="10028334" y="701685"/>
            <a:ext cx="1508648" cy="1508648"/>
          </a:xfrm>
          <a:custGeom>
            <a:avLst/>
            <a:gdLst/>
            <a:ahLst/>
            <a:cxnLst/>
            <a:rect r="r" b="b" t="t" l="l"/>
            <a:pathLst>
              <a:path h="1508648" w="1508648">
                <a:moveTo>
                  <a:pt x="0" y="0"/>
                </a:moveTo>
                <a:lnTo>
                  <a:pt x="1508648" y="0"/>
                </a:lnTo>
                <a:lnTo>
                  <a:pt x="1508648" y="1508648"/>
                </a:lnTo>
                <a:lnTo>
                  <a:pt x="0" y="150864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10488219">
            <a:off x="-1751722" y="5533283"/>
            <a:ext cx="4704064" cy="4704064"/>
          </a:xfrm>
          <a:custGeom>
            <a:avLst/>
            <a:gdLst/>
            <a:ahLst/>
            <a:cxnLst/>
            <a:rect r="r" b="b" t="t" l="l"/>
            <a:pathLst>
              <a:path h="4704064" w="4704064">
                <a:moveTo>
                  <a:pt x="0" y="0"/>
                </a:moveTo>
                <a:lnTo>
                  <a:pt x="4704065" y="0"/>
                </a:lnTo>
                <a:lnTo>
                  <a:pt x="4704065" y="4704064"/>
                </a:lnTo>
                <a:lnTo>
                  <a:pt x="0" y="470406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0">
            <a:off x="1822776" y="2242624"/>
            <a:ext cx="15436524" cy="3087305"/>
          </a:xfrm>
          <a:custGeom>
            <a:avLst/>
            <a:gdLst/>
            <a:ahLst/>
            <a:cxnLst/>
            <a:rect r="r" b="b" t="t" l="l"/>
            <a:pathLst>
              <a:path h="3087305" w="15436524">
                <a:moveTo>
                  <a:pt x="0" y="0"/>
                </a:moveTo>
                <a:lnTo>
                  <a:pt x="15436524" y="0"/>
                </a:lnTo>
                <a:lnTo>
                  <a:pt x="15436524" y="3087304"/>
                </a:lnTo>
                <a:lnTo>
                  <a:pt x="0" y="3087304"/>
                </a:lnTo>
                <a:lnTo>
                  <a:pt x="0" y="0"/>
                </a:lnTo>
                <a:close/>
              </a:path>
            </a:pathLst>
          </a:custGeom>
          <a:blipFill>
            <a:blip r:embed="rId7"/>
            <a:stretch>
              <a:fillRect l="0" t="0" r="0" b="0"/>
            </a:stretch>
          </a:blipFill>
        </p:spPr>
      </p:sp>
      <p:sp>
        <p:nvSpPr>
          <p:cNvPr name="TextBox 8" id="8"/>
          <p:cNvSpPr txBox="true"/>
          <p:nvPr/>
        </p:nvSpPr>
        <p:spPr>
          <a:xfrm rot="0">
            <a:off x="165194" y="5741371"/>
            <a:ext cx="18122806" cy="2648872"/>
          </a:xfrm>
          <a:prstGeom prst="rect">
            <a:avLst/>
          </a:prstGeom>
        </p:spPr>
        <p:txBody>
          <a:bodyPr anchor="t" rtlCol="false" tIns="0" lIns="0" bIns="0" rIns="0">
            <a:spAutoFit/>
          </a:bodyPr>
          <a:lstStyle/>
          <a:p>
            <a:pPr algn="ctr">
              <a:lnSpc>
                <a:spcPts val="4149"/>
              </a:lnSpc>
              <a:spcBef>
                <a:spcPct val="0"/>
              </a:spcBef>
            </a:pPr>
            <a:r>
              <a:rPr lang="en-US" b="true" sz="2963" spc="94">
                <a:solidFill>
                  <a:srgbClr val="FFFFFF"/>
                </a:solidFill>
                <a:latin typeface="Codec Pro Bold"/>
                <a:ea typeface="Codec Pro Bold"/>
                <a:cs typeface="Codec Pro Bold"/>
                <a:sym typeface="Codec Pro Bold"/>
              </a:rPr>
              <a:t>After merging all datasets and removing regions with missing or unreliable observations, a balanced cross-sectional dataset was obtained. The final sample includes aprox 75 NUTS-2 regions from 9 EU countries for the year 2022. No missing values remain in the dataset, therefore </a:t>
            </a:r>
            <a:r>
              <a:rPr lang="en-US" b="true" sz="2963" spc="94">
                <a:solidFill>
                  <a:srgbClr val="FFFFFF"/>
                </a:solidFill>
                <a:latin typeface="Codec Pro Bold"/>
                <a:ea typeface="Codec Pro Bold"/>
                <a:cs typeface="Codec Pro Bold"/>
                <a:sym typeface="Codec Pro Bold"/>
              </a:rPr>
              <a:t>ensuring a complete dataset with values well above the minimum required sample size (30).</a:t>
            </a:r>
          </a:p>
        </p:txBody>
      </p:sp>
      <p:sp>
        <p:nvSpPr>
          <p:cNvPr name="TextBox 9" id="9"/>
          <p:cNvSpPr txBox="true"/>
          <p:nvPr/>
        </p:nvSpPr>
        <p:spPr>
          <a:xfrm rot="0">
            <a:off x="464646" y="8496792"/>
            <a:ext cx="17358708" cy="1427767"/>
          </a:xfrm>
          <a:prstGeom prst="rect">
            <a:avLst/>
          </a:prstGeom>
        </p:spPr>
        <p:txBody>
          <a:bodyPr anchor="t" rtlCol="false" tIns="0" lIns="0" bIns="0" rIns="0">
            <a:spAutoFit/>
          </a:bodyPr>
          <a:lstStyle/>
          <a:p>
            <a:pPr algn="ctr">
              <a:lnSpc>
                <a:spcPts val="3729"/>
              </a:lnSpc>
              <a:spcBef>
                <a:spcPct val="0"/>
              </a:spcBef>
            </a:pPr>
            <a:r>
              <a:rPr lang="en-US" b="true" sz="2663" spc="85">
                <a:solidFill>
                  <a:srgbClr val="FFFFFF"/>
                </a:solidFill>
                <a:latin typeface="Codec Pro Bold"/>
                <a:ea typeface="Codec Pro Bold"/>
                <a:cs typeface="Codec Pro Bold"/>
                <a:sym typeface="Codec Pro Bold"/>
              </a:rPr>
              <a:t>The descriptive statistics reveal substantial regional disparities in unemployment, income, population density, and economic structure, justifying the inclusion of structural and socio-economic variables in the regression analysis.</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2"/>
            <a:stretch>
              <a:fillRect l="0" t="-38888" r="0" b="-38888"/>
            </a:stretch>
          </a:blipFill>
        </p:spPr>
      </p:sp>
      <p:sp>
        <p:nvSpPr>
          <p:cNvPr name="Freeform 3" id="3"/>
          <p:cNvSpPr/>
          <p:nvPr/>
        </p:nvSpPr>
        <p:spPr>
          <a:xfrm flipH="false" flipV="false" rot="0">
            <a:off x="-3924144" y="0"/>
            <a:ext cx="10287000" cy="10287000"/>
          </a:xfrm>
          <a:custGeom>
            <a:avLst/>
            <a:gdLst/>
            <a:ahLst/>
            <a:cxnLst/>
            <a:rect r="r" b="b" t="t" l="l"/>
            <a:pathLst>
              <a:path h="10287000" w="10287000">
                <a:moveTo>
                  <a:pt x="0" y="0"/>
                </a:moveTo>
                <a:lnTo>
                  <a:pt x="10287000" y="0"/>
                </a:lnTo>
                <a:lnTo>
                  <a:pt x="10287000" y="10287000"/>
                </a:lnTo>
                <a:lnTo>
                  <a:pt x="0" y="102870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5201006" y="-1416307"/>
            <a:ext cx="4116588" cy="3555235"/>
          </a:xfrm>
          <a:custGeom>
            <a:avLst/>
            <a:gdLst/>
            <a:ahLst/>
            <a:cxnLst/>
            <a:rect r="r" b="b" t="t" l="l"/>
            <a:pathLst>
              <a:path h="3555235" w="4116588">
                <a:moveTo>
                  <a:pt x="0" y="0"/>
                </a:moveTo>
                <a:lnTo>
                  <a:pt x="4116588" y="0"/>
                </a:lnTo>
                <a:lnTo>
                  <a:pt x="4116588" y="3555235"/>
                </a:lnTo>
                <a:lnTo>
                  <a:pt x="0" y="355523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12018451" y="434520"/>
            <a:ext cx="4116588" cy="3555235"/>
          </a:xfrm>
          <a:custGeom>
            <a:avLst/>
            <a:gdLst/>
            <a:ahLst/>
            <a:cxnLst/>
            <a:rect r="r" b="b" t="t" l="l"/>
            <a:pathLst>
              <a:path h="3555235" w="4116588">
                <a:moveTo>
                  <a:pt x="0" y="0"/>
                </a:moveTo>
                <a:lnTo>
                  <a:pt x="4116589" y="0"/>
                </a:lnTo>
                <a:lnTo>
                  <a:pt x="4116589" y="3555235"/>
                </a:lnTo>
                <a:lnTo>
                  <a:pt x="0" y="355523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15290018" y="2222330"/>
            <a:ext cx="4116588" cy="3555235"/>
          </a:xfrm>
          <a:custGeom>
            <a:avLst/>
            <a:gdLst/>
            <a:ahLst/>
            <a:cxnLst/>
            <a:rect r="r" b="b" t="t" l="l"/>
            <a:pathLst>
              <a:path h="3555235" w="4116588">
                <a:moveTo>
                  <a:pt x="0" y="0"/>
                </a:moveTo>
                <a:lnTo>
                  <a:pt x="4116588" y="0"/>
                </a:lnTo>
                <a:lnTo>
                  <a:pt x="4116588" y="3555236"/>
                </a:lnTo>
                <a:lnTo>
                  <a:pt x="0" y="355523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0">
            <a:off x="9992596" y="361311"/>
            <a:ext cx="7150221" cy="3700239"/>
          </a:xfrm>
          <a:custGeom>
            <a:avLst/>
            <a:gdLst/>
            <a:ahLst/>
            <a:cxnLst/>
            <a:rect r="r" b="b" t="t" l="l"/>
            <a:pathLst>
              <a:path h="3700239" w="7150221">
                <a:moveTo>
                  <a:pt x="0" y="0"/>
                </a:moveTo>
                <a:lnTo>
                  <a:pt x="7150221" y="0"/>
                </a:lnTo>
                <a:lnTo>
                  <a:pt x="7150221" y="3700239"/>
                </a:lnTo>
                <a:lnTo>
                  <a:pt x="0" y="3700239"/>
                </a:lnTo>
                <a:lnTo>
                  <a:pt x="0" y="0"/>
                </a:lnTo>
                <a:close/>
              </a:path>
            </a:pathLst>
          </a:custGeom>
          <a:blipFill>
            <a:blip r:embed="rId7"/>
            <a:stretch>
              <a:fillRect l="0" t="0" r="0" b="0"/>
            </a:stretch>
          </a:blipFill>
        </p:spPr>
      </p:sp>
      <p:sp>
        <p:nvSpPr>
          <p:cNvPr name="TextBox 8" id="8"/>
          <p:cNvSpPr txBox="true"/>
          <p:nvPr/>
        </p:nvSpPr>
        <p:spPr>
          <a:xfrm rot="0">
            <a:off x="491062" y="830832"/>
            <a:ext cx="13076644" cy="2208460"/>
          </a:xfrm>
          <a:prstGeom prst="rect">
            <a:avLst/>
          </a:prstGeom>
        </p:spPr>
        <p:txBody>
          <a:bodyPr anchor="t" rtlCol="false" tIns="0" lIns="0" bIns="0" rIns="0">
            <a:spAutoFit/>
          </a:bodyPr>
          <a:lstStyle/>
          <a:p>
            <a:pPr algn="l">
              <a:lnSpc>
                <a:spcPts val="8262"/>
              </a:lnSpc>
            </a:pPr>
            <a:r>
              <a:rPr lang="en-US" sz="7184" spc="201" b="true">
                <a:solidFill>
                  <a:srgbClr val="FFFFFF"/>
                </a:solidFill>
                <a:latin typeface="Codec Pro Bold"/>
                <a:ea typeface="Codec Pro Bold"/>
                <a:cs typeface="Codec Pro Bold"/>
                <a:sym typeface="Codec Pro Bold"/>
              </a:rPr>
              <a:t>Definition Model 1  </a:t>
            </a:r>
          </a:p>
          <a:p>
            <a:pPr algn="l" marL="0" indent="0" lvl="0">
              <a:lnSpc>
                <a:spcPts val="8262"/>
              </a:lnSpc>
              <a:spcBef>
                <a:spcPct val="0"/>
              </a:spcBef>
            </a:pPr>
            <a:r>
              <a:rPr lang="en-US" b="true" sz="7184" spc="201">
                <a:solidFill>
                  <a:srgbClr val="FFFFFF"/>
                </a:solidFill>
                <a:latin typeface="Codec Pro Bold"/>
                <a:ea typeface="Codec Pro Bold"/>
                <a:cs typeface="Codec Pro Bold"/>
                <a:sym typeface="Codec Pro Bold"/>
              </a:rPr>
              <a:t>Including Dummy </a:t>
            </a:r>
          </a:p>
        </p:txBody>
      </p:sp>
      <p:sp>
        <p:nvSpPr>
          <p:cNvPr name="TextBox 9" id="9"/>
          <p:cNvSpPr txBox="true"/>
          <p:nvPr/>
        </p:nvSpPr>
        <p:spPr>
          <a:xfrm rot="0">
            <a:off x="177206" y="4296424"/>
            <a:ext cx="17431871" cy="6332154"/>
          </a:xfrm>
          <a:prstGeom prst="rect">
            <a:avLst/>
          </a:prstGeom>
        </p:spPr>
        <p:txBody>
          <a:bodyPr anchor="t" rtlCol="false" tIns="0" lIns="0" bIns="0" rIns="0">
            <a:spAutoFit/>
          </a:bodyPr>
          <a:lstStyle/>
          <a:p>
            <a:pPr algn="ctr">
              <a:lnSpc>
                <a:spcPts val="3879"/>
              </a:lnSpc>
            </a:pPr>
            <a:r>
              <a:rPr lang="en-US" b="true" sz="2770" spc="88">
                <a:solidFill>
                  <a:srgbClr val="FFFFFF"/>
                </a:solidFill>
                <a:latin typeface="Codec Pro Bold"/>
                <a:ea typeface="Codec Pro Bold"/>
                <a:cs typeface="Codec Pro Bold"/>
                <a:sym typeface="Codec Pro Bold"/>
              </a:rPr>
              <a:t>Unemployment Rate = β₀ + β₁(Population Density) + β₂(Agricultural Employment) + β₃(GDP per capita) + β₄(Tertiary Education) + β₅(CEE Dummy) + ε</a:t>
            </a:r>
          </a:p>
          <a:p>
            <a:pPr algn="ctr">
              <a:lnSpc>
                <a:spcPts val="3879"/>
              </a:lnSpc>
            </a:pPr>
          </a:p>
          <a:p>
            <a:pPr algn="ctr">
              <a:lnSpc>
                <a:spcPts val="3879"/>
              </a:lnSpc>
            </a:pPr>
            <a:r>
              <a:rPr lang="en-US" b="true" sz="2770" spc="88">
                <a:solidFill>
                  <a:srgbClr val="FFFFFF"/>
                </a:solidFill>
                <a:latin typeface="Codec Pro Bold"/>
                <a:ea typeface="Codec Pro Bold"/>
                <a:cs typeface="Codec Pro Bold"/>
                <a:sym typeface="Codec Pro Bold"/>
              </a:rPr>
              <a:t>Expected results:</a:t>
            </a:r>
          </a:p>
          <a:p>
            <a:pPr algn="ctr">
              <a:lnSpc>
                <a:spcPts val="3879"/>
              </a:lnSpc>
            </a:pPr>
            <a:r>
              <a:rPr lang="en-US" b="true" sz="2770" spc="88">
                <a:solidFill>
                  <a:srgbClr val="FFFFFF"/>
                </a:solidFill>
                <a:latin typeface="Codec Pro Bold"/>
                <a:ea typeface="Codec Pro Bold"/>
                <a:cs typeface="Codec Pro Bold"/>
                <a:sym typeface="Codec Pro Bold"/>
              </a:rPr>
              <a:t>-CEE regions have 5.07 percentage points lower unemployment on average (controlling for other factors) </a:t>
            </a:r>
          </a:p>
          <a:p>
            <a:pPr algn="ctr">
              <a:lnSpc>
                <a:spcPts val="3879"/>
              </a:lnSpc>
            </a:pPr>
            <a:r>
              <a:rPr lang="en-US" b="true" sz="2770" spc="88">
                <a:solidFill>
                  <a:srgbClr val="FFFFFF"/>
                </a:solidFill>
                <a:latin typeface="Codec Pro Bold"/>
                <a:ea typeface="Codec Pro Bold"/>
                <a:cs typeface="Codec Pro Bold"/>
                <a:sym typeface="Codec Pro Bold"/>
              </a:rPr>
              <a:t>-Higher GDP per capita reduces unemployment significantly</a:t>
            </a:r>
          </a:p>
          <a:p>
            <a:pPr algn="ctr">
              <a:lnSpc>
                <a:spcPts val="3879"/>
              </a:lnSpc>
            </a:pPr>
            <a:r>
              <a:rPr lang="en-US" b="true" sz="2770" spc="88">
                <a:solidFill>
                  <a:srgbClr val="FFFFFF"/>
                </a:solidFill>
                <a:latin typeface="Codec Pro Bold"/>
                <a:ea typeface="Codec Pro Bold"/>
                <a:cs typeface="Codec Pro Bold"/>
                <a:sym typeface="Codec Pro Bold"/>
              </a:rPr>
              <a:t>The CEE dummy is highly significant (p &lt; 0.001), capturing labor market characteristics not explained by economic variables alone, such as:</a:t>
            </a:r>
          </a:p>
          <a:p>
            <a:pPr algn="ctr">
              <a:lnSpc>
                <a:spcPts val="3879"/>
              </a:lnSpc>
            </a:pPr>
            <a:r>
              <a:rPr lang="en-US" b="true" sz="2770" spc="88">
                <a:solidFill>
                  <a:srgbClr val="FFFFFF"/>
                </a:solidFill>
                <a:latin typeface="Codec Pro Bold"/>
                <a:ea typeface="Codec Pro Bold"/>
                <a:cs typeface="Codec Pro Bold"/>
                <a:sym typeface="Codec Pro Bold"/>
              </a:rPr>
              <a:t>Historical legacy of socialist economies</a:t>
            </a:r>
          </a:p>
          <a:p>
            <a:pPr algn="ctr">
              <a:lnSpc>
                <a:spcPts val="3879"/>
              </a:lnSpc>
            </a:pPr>
            <a:r>
              <a:rPr lang="en-US" b="true" sz="2770" spc="88">
                <a:solidFill>
                  <a:srgbClr val="FFFFFF"/>
                </a:solidFill>
                <a:latin typeface="Codec Pro Bold"/>
                <a:ea typeface="Codec Pro Bold"/>
                <a:cs typeface="Codec Pro Bold"/>
                <a:sym typeface="Codec Pro Bold"/>
              </a:rPr>
              <a:t>Different labor market institutions</a:t>
            </a:r>
          </a:p>
          <a:p>
            <a:pPr algn="ctr">
              <a:lnSpc>
                <a:spcPts val="3879"/>
              </a:lnSpc>
            </a:pPr>
            <a:r>
              <a:rPr lang="en-US" b="true" sz="2770" spc="88">
                <a:solidFill>
                  <a:srgbClr val="FFFFFF"/>
                </a:solidFill>
                <a:latin typeface="Codec Pro Bold"/>
                <a:ea typeface="Codec Pro Bold"/>
                <a:cs typeface="Codec Pro Bold"/>
                <a:sym typeface="Codec Pro Bold"/>
              </a:rPr>
              <a:t>Structural transformation patterns</a:t>
            </a:r>
          </a:p>
          <a:p>
            <a:pPr algn="ctr">
              <a:lnSpc>
                <a:spcPts val="3879"/>
              </a:lnSpc>
              <a:spcBef>
                <a:spcPct val="0"/>
              </a:spcBef>
            </a:pPr>
          </a:p>
        </p:txBody>
      </p:sp>
      <p:sp>
        <p:nvSpPr>
          <p:cNvPr name="TextBox 10" id="10"/>
          <p:cNvSpPr txBox="true"/>
          <p:nvPr/>
        </p:nvSpPr>
        <p:spPr>
          <a:xfrm rot="0">
            <a:off x="0" y="3001191"/>
            <a:ext cx="10489816" cy="465547"/>
          </a:xfrm>
          <a:prstGeom prst="rect">
            <a:avLst/>
          </a:prstGeom>
        </p:spPr>
        <p:txBody>
          <a:bodyPr anchor="t" rtlCol="false" tIns="0" lIns="0" bIns="0" rIns="0">
            <a:spAutoFit/>
          </a:bodyPr>
          <a:lstStyle/>
          <a:p>
            <a:pPr algn="ctr">
              <a:lnSpc>
                <a:spcPts val="3236"/>
              </a:lnSpc>
              <a:spcBef>
                <a:spcPct val="0"/>
              </a:spcBef>
            </a:pPr>
            <a:r>
              <a:rPr lang="en-US" b="true" sz="2814" spc="78">
                <a:solidFill>
                  <a:srgbClr val="F48FA6"/>
                </a:solidFill>
                <a:latin typeface="Codec Pro Bold"/>
                <a:ea typeface="Codec Pro Bold"/>
                <a:cs typeface="Codec Pro Bold"/>
                <a:sym typeface="Codec Pro Bold"/>
              </a:rPr>
              <a:t>The model is highly statistically significant overall.</a:t>
            </a:r>
          </a:p>
        </p:txBody>
      </p:sp>
      <p:sp>
        <p:nvSpPr>
          <p:cNvPr name="TextBox 11" id="11"/>
          <p:cNvSpPr txBox="true"/>
          <p:nvPr/>
        </p:nvSpPr>
        <p:spPr>
          <a:xfrm rot="0">
            <a:off x="-3460432" y="323211"/>
            <a:ext cx="10489816" cy="465547"/>
          </a:xfrm>
          <a:prstGeom prst="rect">
            <a:avLst/>
          </a:prstGeom>
        </p:spPr>
        <p:txBody>
          <a:bodyPr anchor="t" rtlCol="false" tIns="0" lIns="0" bIns="0" rIns="0">
            <a:spAutoFit/>
          </a:bodyPr>
          <a:lstStyle/>
          <a:p>
            <a:pPr algn="ctr">
              <a:lnSpc>
                <a:spcPts val="3236"/>
              </a:lnSpc>
              <a:spcBef>
                <a:spcPct val="0"/>
              </a:spcBef>
            </a:pPr>
            <a:r>
              <a:rPr lang="en-US" b="true" sz="2814" spc="78">
                <a:solidFill>
                  <a:srgbClr val="F48FA6"/>
                </a:solidFill>
                <a:latin typeface="Codec Pro Bold"/>
                <a:ea typeface="Codec Pro Bold"/>
                <a:cs typeface="Codec Pro Bold"/>
                <a:sym typeface="Codec Pro Bold"/>
              </a:rPr>
              <a:t>Methodology</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2"/>
            <a:stretch>
              <a:fillRect l="0" t="-38888" r="0" b="-38888"/>
            </a:stretch>
          </a:blipFill>
        </p:spPr>
      </p:sp>
      <p:sp>
        <p:nvSpPr>
          <p:cNvPr name="Freeform 3" id="3"/>
          <p:cNvSpPr/>
          <p:nvPr/>
        </p:nvSpPr>
        <p:spPr>
          <a:xfrm flipH="false" flipV="false" rot="0">
            <a:off x="-3924144" y="0"/>
            <a:ext cx="10287000" cy="10287000"/>
          </a:xfrm>
          <a:custGeom>
            <a:avLst/>
            <a:gdLst/>
            <a:ahLst/>
            <a:cxnLst/>
            <a:rect r="r" b="b" t="t" l="l"/>
            <a:pathLst>
              <a:path h="10287000" w="10287000">
                <a:moveTo>
                  <a:pt x="0" y="0"/>
                </a:moveTo>
                <a:lnTo>
                  <a:pt x="10287000" y="0"/>
                </a:lnTo>
                <a:lnTo>
                  <a:pt x="10287000" y="10287000"/>
                </a:lnTo>
                <a:lnTo>
                  <a:pt x="0" y="102870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5201006" y="-1416307"/>
            <a:ext cx="4116588" cy="3555235"/>
          </a:xfrm>
          <a:custGeom>
            <a:avLst/>
            <a:gdLst/>
            <a:ahLst/>
            <a:cxnLst/>
            <a:rect r="r" b="b" t="t" l="l"/>
            <a:pathLst>
              <a:path h="3555235" w="4116588">
                <a:moveTo>
                  <a:pt x="0" y="0"/>
                </a:moveTo>
                <a:lnTo>
                  <a:pt x="4116588" y="0"/>
                </a:lnTo>
                <a:lnTo>
                  <a:pt x="4116588" y="3555235"/>
                </a:lnTo>
                <a:lnTo>
                  <a:pt x="0" y="355523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12018451" y="434520"/>
            <a:ext cx="4116588" cy="3555235"/>
          </a:xfrm>
          <a:custGeom>
            <a:avLst/>
            <a:gdLst/>
            <a:ahLst/>
            <a:cxnLst/>
            <a:rect r="r" b="b" t="t" l="l"/>
            <a:pathLst>
              <a:path h="3555235" w="4116588">
                <a:moveTo>
                  <a:pt x="0" y="0"/>
                </a:moveTo>
                <a:lnTo>
                  <a:pt x="4116589" y="0"/>
                </a:lnTo>
                <a:lnTo>
                  <a:pt x="4116589" y="3555235"/>
                </a:lnTo>
                <a:lnTo>
                  <a:pt x="0" y="355523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15290018" y="2222330"/>
            <a:ext cx="4116588" cy="3555235"/>
          </a:xfrm>
          <a:custGeom>
            <a:avLst/>
            <a:gdLst/>
            <a:ahLst/>
            <a:cxnLst/>
            <a:rect r="r" b="b" t="t" l="l"/>
            <a:pathLst>
              <a:path h="3555235" w="4116588">
                <a:moveTo>
                  <a:pt x="0" y="0"/>
                </a:moveTo>
                <a:lnTo>
                  <a:pt x="4116588" y="0"/>
                </a:lnTo>
                <a:lnTo>
                  <a:pt x="4116588" y="3555236"/>
                </a:lnTo>
                <a:lnTo>
                  <a:pt x="0" y="355523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0">
            <a:off x="13373470" y="875426"/>
            <a:ext cx="4690959" cy="3114330"/>
          </a:xfrm>
          <a:custGeom>
            <a:avLst/>
            <a:gdLst/>
            <a:ahLst/>
            <a:cxnLst/>
            <a:rect r="r" b="b" t="t" l="l"/>
            <a:pathLst>
              <a:path h="3114330" w="4690959">
                <a:moveTo>
                  <a:pt x="0" y="0"/>
                </a:moveTo>
                <a:lnTo>
                  <a:pt x="4690960" y="0"/>
                </a:lnTo>
                <a:lnTo>
                  <a:pt x="4690960" y="3114329"/>
                </a:lnTo>
                <a:lnTo>
                  <a:pt x="0" y="3114329"/>
                </a:lnTo>
                <a:lnTo>
                  <a:pt x="0" y="0"/>
                </a:lnTo>
                <a:close/>
              </a:path>
            </a:pathLst>
          </a:custGeom>
          <a:blipFill>
            <a:blip r:embed="rId7"/>
            <a:stretch>
              <a:fillRect l="0" t="0" r="0" b="0"/>
            </a:stretch>
          </a:blipFill>
        </p:spPr>
      </p:sp>
      <p:sp>
        <p:nvSpPr>
          <p:cNvPr name="TextBox 8" id="8"/>
          <p:cNvSpPr txBox="true"/>
          <p:nvPr/>
        </p:nvSpPr>
        <p:spPr>
          <a:xfrm rot="0">
            <a:off x="667510" y="574211"/>
            <a:ext cx="18359165" cy="2208460"/>
          </a:xfrm>
          <a:prstGeom prst="rect">
            <a:avLst/>
          </a:prstGeom>
        </p:spPr>
        <p:txBody>
          <a:bodyPr anchor="t" rtlCol="false" tIns="0" lIns="0" bIns="0" rIns="0">
            <a:spAutoFit/>
          </a:bodyPr>
          <a:lstStyle/>
          <a:p>
            <a:pPr algn="l">
              <a:lnSpc>
                <a:spcPts val="8262"/>
              </a:lnSpc>
            </a:pPr>
            <a:r>
              <a:rPr lang="en-US" sz="7184" spc="201" b="true">
                <a:solidFill>
                  <a:srgbClr val="FFFFFF"/>
                </a:solidFill>
                <a:latin typeface="Codec Pro Bold"/>
                <a:ea typeface="Codec Pro Bold"/>
                <a:cs typeface="Codec Pro Bold"/>
                <a:sym typeface="Codec Pro Bold"/>
              </a:rPr>
              <a:t>Definition Model 2 </a:t>
            </a:r>
          </a:p>
          <a:p>
            <a:pPr algn="l" marL="0" indent="0" lvl="0">
              <a:lnSpc>
                <a:spcPts val="8262"/>
              </a:lnSpc>
              <a:spcBef>
                <a:spcPct val="0"/>
              </a:spcBef>
            </a:pPr>
            <a:r>
              <a:rPr lang="en-US" b="true" sz="7184" spc="201">
                <a:solidFill>
                  <a:srgbClr val="FFFFFF"/>
                </a:solidFill>
                <a:latin typeface="Codec Pro Bold"/>
                <a:ea typeface="Codec Pro Bold"/>
                <a:cs typeface="Codec Pro Bold"/>
                <a:sym typeface="Codec Pro Bold"/>
              </a:rPr>
              <a:t>Excluding Dummy </a:t>
            </a:r>
          </a:p>
        </p:txBody>
      </p:sp>
      <p:sp>
        <p:nvSpPr>
          <p:cNvPr name="TextBox 9" id="9"/>
          <p:cNvSpPr txBox="true"/>
          <p:nvPr/>
        </p:nvSpPr>
        <p:spPr>
          <a:xfrm rot="0">
            <a:off x="0" y="4693918"/>
            <a:ext cx="18288000" cy="4972588"/>
          </a:xfrm>
          <a:prstGeom prst="rect">
            <a:avLst/>
          </a:prstGeom>
        </p:spPr>
        <p:txBody>
          <a:bodyPr anchor="t" rtlCol="false" tIns="0" lIns="0" bIns="0" rIns="0">
            <a:spAutoFit/>
          </a:bodyPr>
          <a:lstStyle/>
          <a:p>
            <a:pPr algn="ctr">
              <a:lnSpc>
                <a:spcPts val="3547"/>
              </a:lnSpc>
              <a:spcBef>
                <a:spcPct val="0"/>
              </a:spcBef>
            </a:pPr>
            <a:r>
              <a:rPr lang="en-US" b="true" sz="3084" spc="86">
                <a:solidFill>
                  <a:srgbClr val="FFFFFF"/>
                </a:solidFill>
                <a:latin typeface="Codec Pro Bold"/>
                <a:ea typeface="Codec Pro Bold"/>
                <a:cs typeface="Codec Pro Bold"/>
                <a:sym typeface="Codec Pro Bold"/>
              </a:rPr>
              <a:t>Unemployment Rate = β₀ + β₁(Population Density) + β₂(Agricultural Employment) + β₃(GDP per capita) + β₄(Tertiary Education) + ε</a:t>
            </a:r>
          </a:p>
          <a:p>
            <a:pPr algn="ctr">
              <a:lnSpc>
                <a:spcPts val="3547"/>
              </a:lnSpc>
              <a:spcBef>
                <a:spcPct val="0"/>
              </a:spcBef>
            </a:pPr>
          </a:p>
          <a:p>
            <a:pPr algn="ctr">
              <a:lnSpc>
                <a:spcPts val="3547"/>
              </a:lnSpc>
              <a:spcBef>
                <a:spcPct val="0"/>
              </a:spcBef>
            </a:pPr>
          </a:p>
          <a:p>
            <a:pPr algn="ctr">
              <a:lnSpc>
                <a:spcPts val="3547"/>
              </a:lnSpc>
              <a:spcBef>
                <a:spcPct val="0"/>
              </a:spcBef>
            </a:pPr>
            <a:r>
              <a:rPr lang="en-US" b="true" sz="3084" spc="86">
                <a:solidFill>
                  <a:srgbClr val="FFFFFF"/>
                </a:solidFill>
                <a:latin typeface="Codec Pro Bold"/>
                <a:ea typeface="Codec Pro Bold"/>
                <a:cs typeface="Codec Pro Bold"/>
                <a:sym typeface="Codec Pro Bold"/>
              </a:rPr>
              <a:t>Expected Results:</a:t>
            </a:r>
          </a:p>
          <a:p>
            <a:pPr algn="ctr">
              <a:lnSpc>
                <a:spcPts val="3547"/>
              </a:lnSpc>
              <a:spcBef>
                <a:spcPct val="0"/>
              </a:spcBef>
            </a:pPr>
            <a:r>
              <a:rPr lang="en-US" b="true" sz="3084" spc="86">
                <a:solidFill>
                  <a:srgbClr val="FFFFFF"/>
                </a:solidFill>
                <a:latin typeface="Codec Pro Bold"/>
                <a:ea typeface="Codec Pro Bold"/>
                <a:cs typeface="Codec Pro Bold"/>
                <a:sym typeface="Codec Pro Bold"/>
              </a:rPr>
              <a:t>-Without the CEE dummy, the model appears to fit better (higher R²)</a:t>
            </a:r>
          </a:p>
          <a:p>
            <a:pPr algn="ctr">
              <a:lnSpc>
                <a:spcPts val="3547"/>
              </a:lnSpc>
              <a:spcBef>
                <a:spcPct val="0"/>
              </a:spcBef>
            </a:pPr>
            <a:r>
              <a:rPr lang="en-US" b="true" sz="3084" spc="86">
                <a:solidFill>
                  <a:srgbClr val="FFFFFF"/>
                </a:solidFill>
                <a:latin typeface="Codec Pro Bold"/>
                <a:ea typeface="Codec Pro Bold"/>
                <a:cs typeface="Codec Pro Bold"/>
                <a:sym typeface="Codec Pro Bold"/>
              </a:rPr>
              <a:t>-However, this masks structural differences between EU member states</a:t>
            </a:r>
          </a:p>
          <a:p>
            <a:pPr algn="ctr">
              <a:lnSpc>
                <a:spcPts val="3547"/>
              </a:lnSpc>
              <a:spcBef>
                <a:spcPct val="0"/>
              </a:spcBef>
            </a:pPr>
            <a:r>
              <a:rPr lang="en-US" b="true" sz="3084" spc="86">
                <a:solidFill>
                  <a:srgbClr val="FFFFFF"/>
                </a:solidFill>
                <a:latin typeface="Codec Pro Bold"/>
                <a:ea typeface="Codec Pro Bold"/>
                <a:cs typeface="Codec Pro Bold"/>
                <a:sym typeface="Codec Pro Bold"/>
              </a:rPr>
              <a:t>-Tertiary education coefficient changes sign (from + to -), suggesting omitted variable bias</a:t>
            </a:r>
          </a:p>
          <a:p>
            <a:pPr algn="ctr">
              <a:lnSpc>
                <a:spcPts val="3547"/>
              </a:lnSpc>
              <a:spcBef>
                <a:spcPct val="0"/>
              </a:spcBef>
            </a:pPr>
            <a:r>
              <a:rPr lang="en-US" b="true" sz="3084" spc="86">
                <a:solidFill>
                  <a:srgbClr val="FFFFFF"/>
                </a:solidFill>
                <a:latin typeface="Codec Pro Bold"/>
                <a:ea typeface="Codec Pro Bold"/>
                <a:cs typeface="Codec Pro Bold"/>
                <a:sym typeface="Codec Pro Bold"/>
              </a:rPr>
              <a:t>-The CEE dummy captures important institutional and historical differences</a:t>
            </a:r>
          </a:p>
          <a:p>
            <a:pPr algn="ctr">
              <a:lnSpc>
                <a:spcPts val="3547"/>
              </a:lnSpc>
              <a:spcBef>
                <a:spcPct val="0"/>
              </a:spcBef>
            </a:pPr>
            <a:r>
              <a:rPr lang="en-US" b="true" sz="3084" spc="86">
                <a:solidFill>
                  <a:srgbClr val="FFFFFF"/>
                </a:solidFill>
                <a:latin typeface="Codec Pro Bold"/>
                <a:ea typeface="Codec Pro Bold"/>
                <a:cs typeface="Codec Pro Bold"/>
                <a:sym typeface="Codec Pro Bold"/>
              </a:rPr>
              <a:t>The sign reversal on tertiary education (from +0.1228 to -0.3368) suggests omitted variable bias. </a:t>
            </a:r>
          </a:p>
        </p:txBody>
      </p:sp>
      <p:sp>
        <p:nvSpPr>
          <p:cNvPr name="TextBox 10" id="10"/>
          <p:cNvSpPr txBox="true"/>
          <p:nvPr/>
        </p:nvSpPr>
        <p:spPr>
          <a:xfrm rot="0">
            <a:off x="402370" y="2998847"/>
            <a:ext cx="11920971" cy="787802"/>
          </a:xfrm>
          <a:prstGeom prst="rect">
            <a:avLst/>
          </a:prstGeom>
        </p:spPr>
        <p:txBody>
          <a:bodyPr anchor="t" rtlCol="false" tIns="0" lIns="0" bIns="0" rIns="0">
            <a:spAutoFit/>
          </a:bodyPr>
          <a:lstStyle/>
          <a:p>
            <a:pPr algn="ctr">
              <a:lnSpc>
                <a:spcPts val="2947"/>
              </a:lnSpc>
              <a:spcBef>
                <a:spcPct val="0"/>
              </a:spcBef>
            </a:pPr>
            <a:r>
              <a:rPr lang="en-US" b="true" sz="2563" spc="71">
                <a:solidFill>
                  <a:srgbClr val="F48FA6"/>
                </a:solidFill>
                <a:latin typeface="Codec Pro Bold"/>
                <a:ea typeface="Codec Pro Bold"/>
                <a:cs typeface="Codec Pro Bold"/>
                <a:sym typeface="Codec Pro Bold"/>
              </a:rPr>
              <a:t>The model is statistically significant overall, but explains less variation than the model with the dummy</a:t>
            </a:r>
          </a:p>
        </p:txBody>
      </p:sp>
      <p:sp>
        <p:nvSpPr>
          <p:cNvPr name="TextBox 11" id="11"/>
          <p:cNvSpPr txBox="true"/>
          <p:nvPr/>
        </p:nvSpPr>
        <p:spPr>
          <a:xfrm rot="0">
            <a:off x="-3627361" y="182696"/>
            <a:ext cx="10489816" cy="465547"/>
          </a:xfrm>
          <a:prstGeom prst="rect">
            <a:avLst/>
          </a:prstGeom>
        </p:spPr>
        <p:txBody>
          <a:bodyPr anchor="t" rtlCol="false" tIns="0" lIns="0" bIns="0" rIns="0">
            <a:spAutoFit/>
          </a:bodyPr>
          <a:lstStyle/>
          <a:p>
            <a:pPr algn="ctr">
              <a:lnSpc>
                <a:spcPts val="3236"/>
              </a:lnSpc>
              <a:spcBef>
                <a:spcPct val="0"/>
              </a:spcBef>
            </a:pPr>
            <a:r>
              <a:rPr lang="en-US" b="true" sz="2814" spc="78">
                <a:solidFill>
                  <a:srgbClr val="F48FA6"/>
                </a:solidFill>
                <a:latin typeface="Codec Pro Bold"/>
                <a:ea typeface="Codec Pro Bold"/>
                <a:cs typeface="Codec Pro Bold"/>
                <a:sym typeface="Codec Pro Bold"/>
              </a:rPr>
              <a:t>Methodology</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1605" t="0" r="-1605" b="0"/>
            </a:stretch>
          </a:blipFill>
        </p:spPr>
      </p:sp>
      <p:sp>
        <p:nvSpPr>
          <p:cNvPr name="Freeform 3" id="3"/>
          <p:cNvSpPr/>
          <p:nvPr/>
        </p:nvSpPr>
        <p:spPr>
          <a:xfrm flipH="false" flipV="false" rot="6303208">
            <a:off x="11117592" y="7199541"/>
            <a:ext cx="8170649" cy="8170649"/>
          </a:xfrm>
          <a:custGeom>
            <a:avLst/>
            <a:gdLst/>
            <a:ahLst/>
            <a:cxnLst/>
            <a:rect r="r" b="b" t="t" l="l"/>
            <a:pathLst>
              <a:path h="8170649" w="8170649">
                <a:moveTo>
                  <a:pt x="0" y="0"/>
                </a:moveTo>
                <a:lnTo>
                  <a:pt x="8170649" y="0"/>
                </a:lnTo>
                <a:lnTo>
                  <a:pt x="8170649" y="8170649"/>
                </a:lnTo>
                <a:lnTo>
                  <a:pt x="0" y="817064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376496">
            <a:off x="8037943" y="7174153"/>
            <a:ext cx="2052766" cy="2052766"/>
          </a:xfrm>
          <a:custGeom>
            <a:avLst/>
            <a:gdLst/>
            <a:ahLst/>
            <a:cxnLst/>
            <a:rect r="r" b="b" t="t" l="l"/>
            <a:pathLst>
              <a:path h="2052766" w="2052766">
                <a:moveTo>
                  <a:pt x="0" y="0"/>
                </a:moveTo>
                <a:lnTo>
                  <a:pt x="2052766" y="0"/>
                </a:lnTo>
                <a:lnTo>
                  <a:pt x="2052766" y="2052766"/>
                </a:lnTo>
                <a:lnTo>
                  <a:pt x="0" y="205276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6303208">
            <a:off x="14359247" y="2250803"/>
            <a:ext cx="1194157" cy="1194157"/>
          </a:xfrm>
          <a:custGeom>
            <a:avLst/>
            <a:gdLst/>
            <a:ahLst/>
            <a:cxnLst/>
            <a:rect r="r" b="b" t="t" l="l"/>
            <a:pathLst>
              <a:path h="1194157" w="1194157">
                <a:moveTo>
                  <a:pt x="0" y="0"/>
                </a:moveTo>
                <a:lnTo>
                  <a:pt x="1194157" y="0"/>
                </a:lnTo>
                <a:lnTo>
                  <a:pt x="1194157" y="1194158"/>
                </a:lnTo>
                <a:lnTo>
                  <a:pt x="0" y="119415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6303208">
            <a:off x="-1399208" y="-1787553"/>
            <a:ext cx="5632506" cy="5632506"/>
          </a:xfrm>
          <a:custGeom>
            <a:avLst/>
            <a:gdLst/>
            <a:ahLst/>
            <a:cxnLst/>
            <a:rect r="r" b="b" t="t" l="l"/>
            <a:pathLst>
              <a:path h="5632506" w="5632506">
                <a:moveTo>
                  <a:pt x="0" y="0"/>
                </a:moveTo>
                <a:lnTo>
                  <a:pt x="5632507" y="0"/>
                </a:lnTo>
                <a:lnTo>
                  <a:pt x="5632507" y="5632506"/>
                </a:lnTo>
                <a:lnTo>
                  <a:pt x="0" y="563250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0">
            <a:off x="910201" y="3120709"/>
            <a:ext cx="6613503" cy="4406246"/>
          </a:xfrm>
          <a:custGeom>
            <a:avLst/>
            <a:gdLst/>
            <a:ahLst/>
            <a:cxnLst/>
            <a:rect r="r" b="b" t="t" l="l"/>
            <a:pathLst>
              <a:path h="4406246" w="6613503">
                <a:moveTo>
                  <a:pt x="0" y="0"/>
                </a:moveTo>
                <a:lnTo>
                  <a:pt x="6613502" y="0"/>
                </a:lnTo>
                <a:lnTo>
                  <a:pt x="6613502" y="4406246"/>
                </a:lnTo>
                <a:lnTo>
                  <a:pt x="0" y="4406246"/>
                </a:lnTo>
                <a:lnTo>
                  <a:pt x="0" y="0"/>
                </a:lnTo>
                <a:close/>
              </a:path>
            </a:pathLst>
          </a:custGeom>
          <a:blipFill>
            <a:blip r:embed="rId7"/>
            <a:stretch>
              <a:fillRect l="0" t="0" r="0" b="0"/>
            </a:stretch>
          </a:blipFill>
        </p:spPr>
      </p:sp>
      <p:sp>
        <p:nvSpPr>
          <p:cNvPr name="TextBox 8" id="8"/>
          <p:cNvSpPr txBox="true"/>
          <p:nvPr/>
        </p:nvSpPr>
        <p:spPr>
          <a:xfrm rot="0">
            <a:off x="-1502362" y="290142"/>
            <a:ext cx="14956325" cy="1160047"/>
          </a:xfrm>
          <a:prstGeom prst="rect">
            <a:avLst/>
          </a:prstGeom>
        </p:spPr>
        <p:txBody>
          <a:bodyPr anchor="t" rtlCol="false" tIns="0" lIns="0" bIns="0" rIns="0">
            <a:spAutoFit/>
          </a:bodyPr>
          <a:lstStyle/>
          <a:p>
            <a:pPr algn="ctr">
              <a:lnSpc>
                <a:spcPts val="8262"/>
              </a:lnSpc>
              <a:spcBef>
                <a:spcPct val="0"/>
              </a:spcBef>
            </a:pPr>
            <a:r>
              <a:rPr lang="en-US" b="true" sz="7184" spc="201">
                <a:solidFill>
                  <a:srgbClr val="FFFFFF"/>
                </a:solidFill>
                <a:latin typeface="Codec Pro Bold"/>
                <a:ea typeface="Codec Pro Bold"/>
                <a:cs typeface="Codec Pro Bold"/>
                <a:sym typeface="Codec Pro Bold"/>
              </a:rPr>
              <a:t>R analysis: Model 1</a:t>
            </a:r>
          </a:p>
        </p:txBody>
      </p:sp>
      <p:sp>
        <p:nvSpPr>
          <p:cNvPr name="TextBox 9" id="9"/>
          <p:cNvSpPr txBox="true"/>
          <p:nvPr/>
        </p:nvSpPr>
        <p:spPr>
          <a:xfrm rot="0">
            <a:off x="7523703" y="3658544"/>
            <a:ext cx="9906983" cy="3302000"/>
          </a:xfrm>
          <a:prstGeom prst="rect">
            <a:avLst/>
          </a:prstGeom>
        </p:spPr>
        <p:txBody>
          <a:bodyPr anchor="t" rtlCol="false" tIns="0" lIns="0" bIns="0" rIns="0">
            <a:spAutoFit/>
          </a:bodyPr>
          <a:lstStyle/>
          <a:p>
            <a:pPr algn="ctr">
              <a:lnSpc>
                <a:spcPts val="2874"/>
              </a:lnSpc>
              <a:spcBef>
                <a:spcPct val="0"/>
              </a:spcBef>
            </a:pPr>
            <a:r>
              <a:rPr lang="en-US" b="true" sz="2499" spc="69">
                <a:solidFill>
                  <a:srgbClr val="FFFFFF"/>
                </a:solidFill>
                <a:latin typeface="Codec Pro Bold"/>
                <a:ea typeface="Codec Pro Bold"/>
                <a:cs typeface="Codec Pro Bold"/>
                <a:sym typeface="Codec Pro Bold"/>
              </a:rPr>
              <a:t>Model 1 explains 56.8% of the variation in unemployment</a:t>
            </a:r>
          </a:p>
          <a:p>
            <a:pPr algn="ctr">
              <a:lnSpc>
                <a:spcPts val="2874"/>
              </a:lnSpc>
              <a:spcBef>
                <a:spcPct val="0"/>
              </a:spcBef>
            </a:pPr>
            <a:r>
              <a:rPr lang="en-US" b="true" sz="2499" spc="69">
                <a:solidFill>
                  <a:srgbClr val="FFFFFF"/>
                </a:solidFill>
                <a:latin typeface="Codec Pro Bold"/>
                <a:ea typeface="Codec Pro Bold"/>
                <a:cs typeface="Codec Pro Bold"/>
                <a:sym typeface="Codec Pro Bold"/>
              </a:rPr>
              <a:t>R2=0.568R^2 = 0.568R2=0.568</a:t>
            </a:r>
          </a:p>
          <a:p>
            <a:pPr algn="ctr">
              <a:lnSpc>
                <a:spcPts val="2874"/>
              </a:lnSpc>
              <a:spcBef>
                <a:spcPct val="0"/>
              </a:spcBef>
            </a:pPr>
            <a:r>
              <a:rPr lang="en-US" b="true" sz="2499" spc="69">
                <a:solidFill>
                  <a:srgbClr val="FFFFFF"/>
                </a:solidFill>
                <a:latin typeface="Codec Pro Bold"/>
                <a:ea typeface="Codec Pro Bold"/>
                <a:cs typeface="Codec Pro Bold"/>
                <a:sym typeface="Codec Pro Bold"/>
              </a:rPr>
              <a:t>indicating a strong explanatory capacity.</a:t>
            </a:r>
          </a:p>
          <a:p>
            <a:pPr algn="ctr">
              <a:lnSpc>
                <a:spcPts val="2874"/>
              </a:lnSpc>
              <a:spcBef>
                <a:spcPct val="0"/>
              </a:spcBef>
            </a:pPr>
            <a:r>
              <a:rPr lang="en-US" b="true" sz="2499" spc="69">
                <a:solidFill>
                  <a:srgbClr val="FFFFFF"/>
                </a:solidFill>
                <a:latin typeface="Codec Pro Bold"/>
                <a:ea typeface="Codec Pro Bold"/>
                <a:cs typeface="Codec Pro Bold"/>
                <a:sym typeface="Codec Pro Bold"/>
              </a:rPr>
              <a:t>Model 1 performs substantially better than Model 2</a:t>
            </a:r>
          </a:p>
          <a:p>
            <a:pPr algn="ctr">
              <a:lnSpc>
                <a:spcPts val="2874"/>
              </a:lnSpc>
              <a:spcBef>
                <a:spcPct val="0"/>
              </a:spcBef>
            </a:pPr>
            <a:r>
              <a:rPr lang="en-US" b="true" sz="2499" spc="69">
                <a:solidFill>
                  <a:srgbClr val="FFFFFF"/>
                </a:solidFill>
                <a:latin typeface="Codec Pro Bold"/>
                <a:ea typeface="Codec Pro Bold"/>
                <a:cs typeface="Codec Pro Bold"/>
                <a:sym typeface="Codec Pro Bold"/>
              </a:rPr>
              <a:t>RModel B2=0.429R^2_{Model\ 2} = 0.429RModel B2​=0.429</a:t>
            </a:r>
          </a:p>
          <a:p>
            <a:pPr algn="ctr">
              <a:lnSpc>
                <a:spcPts val="2874"/>
              </a:lnSpc>
              <a:spcBef>
                <a:spcPct val="0"/>
              </a:spcBef>
            </a:pPr>
            <a:r>
              <a:rPr lang="en-US" b="true" sz="2499" spc="69">
                <a:solidFill>
                  <a:srgbClr val="FFFFFF"/>
                </a:solidFill>
                <a:latin typeface="Codec Pro Bold"/>
                <a:ea typeface="Codec Pro Bold"/>
                <a:cs typeface="Codec Pro Bold"/>
                <a:sym typeface="Codec Pro Bold"/>
              </a:rPr>
              <a:t>suggesting that the inclusion of additional regressors—particularly the CEE dummy variable—significantly improves the model’s ability to explain unemployment differences across regions.</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6B367B"/>
        </a:solidFill>
      </p:bgPr>
    </p:bg>
    <p:spTree>
      <p:nvGrpSpPr>
        <p:cNvPr id="1" name=""/>
        <p:cNvGrpSpPr/>
        <p:nvPr/>
      </p:nvGrpSpPr>
      <p:grpSpPr>
        <a:xfrm>
          <a:off x="0" y="0"/>
          <a:ext cx="0" cy="0"/>
          <a:chOff x="0" y="0"/>
          <a:chExt cx="0" cy="0"/>
        </a:xfrm>
      </p:grpSpPr>
      <p:sp>
        <p:nvSpPr>
          <p:cNvPr name="TextBox 2" id="2"/>
          <p:cNvSpPr txBox="true"/>
          <p:nvPr/>
        </p:nvSpPr>
        <p:spPr>
          <a:xfrm rot="0">
            <a:off x="-1502362" y="290142"/>
            <a:ext cx="14956325" cy="1160047"/>
          </a:xfrm>
          <a:prstGeom prst="rect">
            <a:avLst/>
          </a:prstGeom>
        </p:spPr>
        <p:txBody>
          <a:bodyPr anchor="t" rtlCol="false" tIns="0" lIns="0" bIns="0" rIns="0">
            <a:spAutoFit/>
          </a:bodyPr>
          <a:lstStyle/>
          <a:p>
            <a:pPr algn="ctr">
              <a:lnSpc>
                <a:spcPts val="8262"/>
              </a:lnSpc>
              <a:spcBef>
                <a:spcPct val="0"/>
              </a:spcBef>
            </a:pPr>
            <a:r>
              <a:rPr lang="en-US" b="true" sz="7184" spc="201">
                <a:solidFill>
                  <a:srgbClr val="FFFFFF"/>
                </a:solidFill>
                <a:latin typeface="Codec Pro Bold"/>
                <a:ea typeface="Codec Pro Bold"/>
                <a:cs typeface="Codec Pro Bold"/>
                <a:sym typeface="Codec Pro Bold"/>
              </a:rPr>
              <a:t>R analysis: Model 1</a:t>
            </a:r>
          </a:p>
        </p:txBody>
      </p:sp>
      <p:sp>
        <p:nvSpPr>
          <p:cNvPr name="Freeform 3" id="3"/>
          <p:cNvSpPr/>
          <p:nvPr/>
        </p:nvSpPr>
        <p:spPr>
          <a:xfrm flipH="false" flipV="false" rot="6303208">
            <a:off x="11388852" y="2567258"/>
            <a:ext cx="8170649" cy="8170649"/>
          </a:xfrm>
          <a:custGeom>
            <a:avLst/>
            <a:gdLst/>
            <a:ahLst/>
            <a:cxnLst/>
            <a:rect r="r" b="b" t="t" l="l"/>
            <a:pathLst>
              <a:path h="8170649" w="8170649">
                <a:moveTo>
                  <a:pt x="0" y="0"/>
                </a:moveTo>
                <a:lnTo>
                  <a:pt x="8170649" y="0"/>
                </a:lnTo>
                <a:lnTo>
                  <a:pt x="8170649" y="8170649"/>
                </a:lnTo>
                <a:lnTo>
                  <a:pt x="0" y="817064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1028700" y="2118669"/>
            <a:ext cx="16668789" cy="5111750"/>
          </a:xfrm>
          <a:prstGeom prst="rect">
            <a:avLst/>
          </a:prstGeom>
        </p:spPr>
        <p:txBody>
          <a:bodyPr anchor="t" rtlCol="false" tIns="0" lIns="0" bIns="0" rIns="0">
            <a:spAutoFit/>
          </a:bodyPr>
          <a:lstStyle/>
          <a:p>
            <a:pPr algn="ctr">
              <a:lnSpc>
                <a:spcPts val="2874"/>
              </a:lnSpc>
              <a:spcBef>
                <a:spcPct val="0"/>
              </a:spcBef>
            </a:pPr>
            <a:r>
              <a:rPr lang="en-US" b="true" sz="2499" spc="69">
                <a:solidFill>
                  <a:srgbClr val="FFFFFF"/>
                </a:solidFill>
                <a:latin typeface="Codec Pro Bold"/>
                <a:ea typeface="Codec Pro Bold"/>
                <a:cs typeface="Codec Pro Bold"/>
                <a:sym typeface="Codec Pro Bold"/>
              </a:rPr>
              <a:t>GDP (−0.069, p &lt; 0.001): Higher GDP is associated with lower unemployment.</a:t>
            </a:r>
          </a:p>
          <a:p>
            <a:pPr algn="ctr">
              <a:lnSpc>
                <a:spcPts val="2874"/>
              </a:lnSpc>
              <a:spcBef>
                <a:spcPct val="0"/>
              </a:spcBef>
            </a:pPr>
            <a:r>
              <a:rPr lang="en-US" b="true" sz="2499" spc="69">
                <a:solidFill>
                  <a:srgbClr val="FFFFFF"/>
                </a:solidFill>
                <a:latin typeface="Codec Pro Bold"/>
                <a:ea typeface="Codec Pro Bold"/>
                <a:cs typeface="Codec Pro Bold"/>
                <a:sym typeface="Codec Pro Bold"/>
              </a:rPr>
              <a:t> A one-unit increase in GDP reduces the unemployment rate by approximately 0.07 percentage points, holding all other factors constant.</a:t>
            </a:r>
          </a:p>
          <a:p>
            <a:pPr algn="ctr">
              <a:lnSpc>
                <a:spcPts val="2874"/>
              </a:lnSpc>
              <a:spcBef>
                <a:spcPct val="0"/>
              </a:spcBef>
            </a:pPr>
            <a:r>
              <a:rPr lang="en-US" b="true" sz="2499" spc="69">
                <a:solidFill>
                  <a:srgbClr val="FFFFFF"/>
                </a:solidFill>
                <a:latin typeface="Codec Pro Bold"/>
                <a:ea typeface="Codec Pro Bold"/>
                <a:cs typeface="Codec Pro Bold"/>
                <a:sym typeface="Codec Pro Bold"/>
              </a:rPr>
              <a:t> This result aligns with economic theory: stronger economic performance generates more employment opportunities.</a:t>
            </a:r>
          </a:p>
          <a:p>
            <a:pPr algn="ctr">
              <a:lnSpc>
                <a:spcPts val="2874"/>
              </a:lnSpc>
              <a:spcBef>
                <a:spcPct val="0"/>
              </a:spcBef>
            </a:pPr>
            <a:r>
              <a:rPr lang="en-US" b="true" sz="2499" spc="69">
                <a:solidFill>
                  <a:srgbClr val="FFFFFF"/>
                </a:solidFill>
                <a:latin typeface="Codec Pro Bold"/>
                <a:ea typeface="Codec Pro Bold"/>
                <a:cs typeface="Codec Pro Bold"/>
                <a:sym typeface="Codec Pro Bold"/>
              </a:rPr>
              <a:t>Agricultural Share (+0.059, p &lt; 0.001): Regions with a larger agricultural sector experience higher unemployment.</a:t>
            </a:r>
          </a:p>
          <a:p>
            <a:pPr algn="ctr">
              <a:lnSpc>
                <a:spcPts val="2874"/>
              </a:lnSpc>
              <a:spcBef>
                <a:spcPct val="0"/>
              </a:spcBef>
            </a:pPr>
            <a:r>
              <a:rPr lang="en-US" b="true" sz="2499" spc="69">
                <a:solidFill>
                  <a:srgbClr val="FFFFFF"/>
                </a:solidFill>
                <a:latin typeface="Codec Pro Bold"/>
                <a:ea typeface="Codec Pro Bold"/>
                <a:cs typeface="Codec Pro Bold"/>
                <a:sym typeface="Codec Pro Bold"/>
              </a:rPr>
              <a:t> A one percentage point increase in the agricultural share raises unemployment by about 0.06 percentage points, reflecting lower productivity, seasonality, and structural rigidities often present in agriculture-based economies.</a:t>
            </a:r>
          </a:p>
          <a:p>
            <a:pPr algn="ctr">
              <a:lnSpc>
                <a:spcPts val="2874"/>
              </a:lnSpc>
              <a:spcBef>
                <a:spcPct val="0"/>
              </a:spcBef>
            </a:pPr>
            <a:r>
              <a:rPr lang="en-US" b="true" sz="2499" spc="69">
                <a:solidFill>
                  <a:srgbClr val="FFFFFF"/>
                </a:solidFill>
                <a:latin typeface="Codec Pro Bold"/>
                <a:ea typeface="Codec Pro Bold"/>
                <a:cs typeface="Codec Pro Bold"/>
                <a:sym typeface="Codec Pro Bold"/>
              </a:rPr>
              <a:t>CEE Dummy (−5.07, p &lt; 0.001): Being located in a Central or Eastern European (CEE) region reduces the unemployment rate by 5.07 percentage points relative to non-CEE regions, ceteris paribus.</a:t>
            </a:r>
          </a:p>
          <a:p>
            <a:pPr algn="ctr">
              <a:lnSpc>
                <a:spcPts val="2874"/>
              </a:lnSpc>
              <a:spcBef>
                <a:spcPct val="0"/>
              </a:spcBef>
            </a:pPr>
            <a:r>
              <a:rPr lang="en-US" b="true" sz="2499" spc="69">
                <a:solidFill>
                  <a:srgbClr val="FFFFFF"/>
                </a:solidFill>
                <a:latin typeface="Codec Pro Bold"/>
                <a:ea typeface="Codec Pro Bold"/>
                <a:cs typeface="Codec Pro Bold"/>
                <a:sym typeface="Codec Pro Bold"/>
              </a:rPr>
              <a:t> This highlights the presence of systematic regional labor-market differences not fully captured by economic and demographic variables alone.</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6B367B"/>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8880508" cy="8880508"/>
          </a:xfrm>
          <a:custGeom>
            <a:avLst/>
            <a:gdLst/>
            <a:ahLst/>
            <a:cxnLst/>
            <a:rect r="r" b="b" t="t" l="l"/>
            <a:pathLst>
              <a:path h="8880508" w="8880508">
                <a:moveTo>
                  <a:pt x="0" y="0"/>
                </a:moveTo>
                <a:lnTo>
                  <a:pt x="8880508" y="0"/>
                </a:lnTo>
                <a:lnTo>
                  <a:pt x="8880508" y="8880508"/>
                </a:lnTo>
                <a:lnTo>
                  <a:pt x="0" y="888050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338685" y="8030085"/>
            <a:ext cx="3145217" cy="333081"/>
          </a:xfrm>
          <a:custGeom>
            <a:avLst/>
            <a:gdLst/>
            <a:ahLst/>
            <a:cxnLst/>
            <a:rect r="r" b="b" t="t" l="l"/>
            <a:pathLst>
              <a:path h="333081" w="3145217">
                <a:moveTo>
                  <a:pt x="0" y="0"/>
                </a:moveTo>
                <a:lnTo>
                  <a:pt x="3145218" y="0"/>
                </a:lnTo>
                <a:lnTo>
                  <a:pt x="3145218" y="333081"/>
                </a:lnTo>
                <a:lnTo>
                  <a:pt x="0" y="333081"/>
                </a:lnTo>
                <a:lnTo>
                  <a:pt x="0" y="0"/>
                </a:lnTo>
                <a:close/>
              </a:path>
            </a:pathLst>
          </a:custGeom>
          <a:blipFill>
            <a:blip r:embed="rId4"/>
            <a:stretch>
              <a:fillRect l="0" t="-86495" r="0" b="0"/>
            </a:stretch>
          </a:blipFill>
        </p:spPr>
      </p:sp>
      <p:sp>
        <p:nvSpPr>
          <p:cNvPr name="Freeform 4" id="4"/>
          <p:cNvSpPr/>
          <p:nvPr/>
        </p:nvSpPr>
        <p:spPr>
          <a:xfrm flipH="false" flipV="false" rot="0">
            <a:off x="3416524" y="8030085"/>
            <a:ext cx="3145217" cy="333081"/>
          </a:xfrm>
          <a:custGeom>
            <a:avLst/>
            <a:gdLst/>
            <a:ahLst/>
            <a:cxnLst/>
            <a:rect r="r" b="b" t="t" l="l"/>
            <a:pathLst>
              <a:path h="333081" w="3145217">
                <a:moveTo>
                  <a:pt x="0" y="0"/>
                </a:moveTo>
                <a:lnTo>
                  <a:pt x="3145217" y="0"/>
                </a:lnTo>
                <a:lnTo>
                  <a:pt x="3145217" y="333081"/>
                </a:lnTo>
                <a:lnTo>
                  <a:pt x="0" y="333081"/>
                </a:lnTo>
                <a:lnTo>
                  <a:pt x="0" y="0"/>
                </a:lnTo>
                <a:close/>
              </a:path>
            </a:pathLst>
          </a:custGeom>
          <a:blipFill>
            <a:blip r:embed="rId4"/>
            <a:stretch>
              <a:fillRect l="0" t="-86495" r="0" b="0"/>
            </a:stretch>
          </a:blipFill>
        </p:spPr>
      </p:sp>
      <p:sp>
        <p:nvSpPr>
          <p:cNvPr name="Freeform 5" id="5"/>
          <p:cNvSpPr/>
          <p:nvPr/>
        </p:nvSpPr>
        <p:spPr>
          <a:xfrm flipH="false" flipV="false" rot="0">
            <a:off x="7571391" y="8030085"/>
            <a:ext cx="3145217" cy="333081"/>
          </a:xfrm>
          <a:custGeom>
            <a:avLst/>
            <a:gdLst/>
            <a:ahLst/>
            <a:cxnLst/>
            <a:rect r="r" b="b" t="t" l="l"/>
            <a:pathLst>
              <a:path h="333081" w="3145217">
                <a:moveTo>
                  <a:pt x="0" y="0"/>
                </a:moveTo>
                <a:lnTo>
                  <a:pt x="3145218" y="0"/>
                </a:lnTo>
                <a:lnTo>
                  <a:pt x="3145218" y="333081"/>
                </a:lnTo>
                <a:lnTo>
                  <a:pt x="0" y="333081"/>
                </a:lnTo>
                <a:lnTo>
                  <a:pt x="0" y="0"/>
                </a:lnTo>
                <a:close/>
              </a:path>
            </a:pathLst>
          </a:custGeom>
          <a:blipFill>
            <a:blip r:embed="rId4"/>
            <a:stretch>
              <a:fillRect l="0" t="-86495" r="0" b="0"/>
            </a:stretch>
          </a:blipFill>
        </p:spPr>
      </p:sp>
      <p:sp>
        <p:nvSpPr>
          <p:cNvPr name="Freeform 6" id="6"/>
          <p:cNvSpPr/>
          <p:nvPr/>
        </p:nvSpPr>
        <p:spPr>
          <a:xfrm flipH="false" flipV="false" rot="0">
            <a:off x="11726259" y="8030085"/>
            <a:ext cx="3145217" cy="333081"/>
          </a:xfrm>
          <a:custGeom>
            <a:avLst/>
            <a:gdLst/>
            <a:ahLst/>
            <a:cxnLst/>
            <a:rect r="r" b="b" t="t" l="l"/>
            <a:pathLst>
              <a:path h="333081" w="3145217">
                <a:moveTo>
                  <a:pt x="0" y="0"/>
                </a:moveTo>
                <a:lnTo>
                  <a:pt x="3145217" y="0"/>
                </a:lnTo>
                <a:lnTo>
                  <a:pt x="3145217" y="333081"/>
                </a:lnTo>
                <a:lnTo>
                  <a:pt x="0" y="333081"/>
                </a:lnTo>
                <a:lnTo>
                  <a:pt x="0" y="0"/>
                </a:lnTo>
                <a:close/>
              </a:path>
            </a:pathLst>
          </a:custGeom>
          <a:blipFill>
            <a:blip r:embed="rId4"/>
            <a:stretch>
              <a:fillRect l="0" t="-86495" r="0" b="0"/>
            </a:stretch>
          </a:blipFill>
        </p:spPr>
      </p:sp>
      <p:sp>
        <p:nvSpPr>
          <p:cNvPr name="Freeform 7" id="7"/>
          <p:cNvSpPr/>
          <p:nvPr/>
        </p:nvSpPr>
        <p:spPr>
          <a:xfrm flipH="false" flipV="false" rot="0">
            <a:off x="12543212" y="8363166"/>
            <a:ext cx="4618008" cy="4618008"/>
          </a:xfrm>
          <a:custGeom>
            <a:avLst/>
            <a:gdLst/>
            <a:ahLst/>
            <a:cxnLst/>
            <a:rect r="r" b="b" t="t" l="l"/>
            <a:pathLst>
              <a:path h="4618008" w="4618008">
                <a:moveTo>
                  <a:pt x="0" y="0"/>
                </a:moveTo>
                <a:lnTo>
                  <a:pt x="4618008" y="0"/>
                </a:lnTo>
                <a:lnTo>
                  <a:pt x="4618008" y="4618008"/>
                </a:lnTo>
                <a:lnTo>
                  <a:pt x="0" y="461800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14651822" y="7473446"/>
            <a:ext cx="6214132" cy="6214132"/>
          </a:xfrm>
          <a:custGeom>
            <a:avLst/>
            <a:gdLst/>
            <a:ahLst/>
            <a:cxnLst/>
            <a:rect r="r" b="b" t="t" l="l"/>
            <a:pathLst>
              <a:path h="6214132" w="6214132">
                <a:moveTo>
                  <a:pt x="0" y="0"/>
                </a:moveTo>
                <a:lnTo>
                  <a:pt x="6214132" y="0"/>
                </a:lnTo>
                <a:lnTo>
                  <a:pt x="6214132" y="6214132"/>
                </a:lnTo>
                <a:lnTo>
                  <a:pt x="0" y="621413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9" id="9"/>
          <p:cNvSpPr/>
          <p:nvPr/>
        </p:nvSpPr>
        <p:spPr>
          <a:xfrm flipH="false" flipV="false" rot="0">
            <a:off x="16640929" y="6525371"/>
            <a:ext cx="616771" cy="616771"/>
          </a:xfrm>
          <a:custGeom>
            <a:avLst/>
            <a:gdLst/>
            <a:ahLst/>
            <a:cxnLst/>
            <a:rect r="r" b="b" t="t" l="l"/>
            <a:pathLst>
              <a:path h="616771" w="616771">
                <a:moveTo>
                  <a:pt x="0" y="0"/>
                </a:moveTo>
                <a:lnTo>
                  <a:pt x="616771" y="0"/>
                </a:lnTo>
                <a:lnTo>
                  <a:pt x="616771" y="616770"/>
                </a:lnTo>
                <a:lnTo>
                  <a:pt x="0" y="61677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0" id="10"/>
          <p:cNvSpPr/>
          <p:nvPr/>
        </p:nvSpPr>
        <p:spPr>
          <a:xfrm flipH="false" flipV="false" rot="0">
            <a:off x="805349" y="1725246"/>
            <a:ext cx="7771391" cy="4419979"/>
          </a:xfrm>
          <a:custGeom>
            <a:avLst/>
            <a:gdLst/>
            <a:ahLst/>
            <a:cxnLst/>
            <a:rect r="r" b="b" t="t" l="l"/>
            <a:pathLst>
              <a:path h="4419979" w="7771391">
                <a:moveTo>
                  <a:pt x="0" y="0"/>
                </a:moveTo>
                <a:lnTo>
                  <a:pt x="7771391" y="0"/>
                </a:lnTo>
                <a:lnTo>
                  <a:pt x="7771391" y="4419979"/>
                </a:lnTo>
                <a:lnTo>
                  <a:pt x="0" y="4419979"/>
                </a:lnTo>
                <a:lnTo>
                  <a:pt x="0" y="0"/>
                </a:lnTo>
                <a:close/>
              </a:path>
            </a:pathLst>
          </a:custGeom>
          <a:blipFill>
            <a:blip r:embed="rId9"/>
            <a:stretch>
              <a:fillRect l="0" t="0" r="0" b="0"/>
            </a:stretch>
          </a:blipFill>
        </p:spPr>
      </p:sp>
      <p:sp>
        <p:nvSpPr>
          <p:cNvPr name="TextBox 11" id="11"/>
          <p:cNvSpPr txBox="true"/>
          <p:nvPr/>
        </p:nvSpPr>
        <p:spPr>
          <a:xfrm rot="0">
            <a:off x="0" y="415339"/>
            <a:ext cx="14956325" cy="1160047"/>
          </a:xfrm>
          <a:prstGeom prst="rect">
            <a:avLst/>
          </a:prstGeom>
        </p:spPr>
        <p:txBody>
          <a:bodyPr anchor="t" rtlCol="false" tIns="0" lIns="0" bIns="0" rIns="0">
            <a:spAutoFit/>
          </a:bodyPr>
          <a:lstStyle/>
          <a:p>
            <a:pPr algn="ctr">
              <a:lnSpc>
                <a:spcPts val="8262"/>
              </a:lnSpc>
              <a:spcBef>
                <a:spcPct val="0"/>
              </a:spcBef>
            </a:pPr>
            <a:r>
              <a:rPr lang="en-US" b="true" sz="7184" spc="201">
                <a:solidFill>
                  <a:srgbClr val="FFFFFF"/>
                </a:solidFill>
                <a:latin typeface="Codec Pro Bold"/>
                <a:ea typeface="Codec Pro Bold"/>
                <a:cs typeface="Codec Pro Bold"/>
                <a:sym typeface="Codec Pro Bold"/>
              </a:rPr>
              <a:t>R analysis: Model 2</a:t>
            </a:r>
          </a:p>
        </p:txBody>
      </p:sp>
      <p:sp>
        <p:nvSpPr>
          <p:cNvPr name="TextBox 12" id="12"/>
          <p:cNvSpPr txBox="true"/>
          <p:nvPr/>
        </p:nvSpPr>
        <p:spPr>
          <a:xfrm rot="0">
            <a:off x="8576740" y="2011465"/>
            <a:ext cx="9559786" cy="7645400"/>
          </a:xfrm>
          <a:prstGeom prst="rect">
            <a:avLst/>
          </a:prstGeom>
        </p:spPr>
        <p:txBody>
          <a:bodyPr anchor="t" rtlCol="false" tIns="0" lIns="0" bIns="0" rIns="0">
            <a:spAutoFit/>
          </a:bodyPr>
          <a:lstStyle/>
          <a:p>
            <a:pPr algn="ctr">
              <a:lnSpc>
                <a:spcPts val="2874"/>
              </a:lnSpc>
              <a:spcBef>
                <a:spcPct val="0"/>
              </a:spcBef>
            </a:pPr>
            <a:r>
              <a:rPr lang="en-US" b="true" sz="2499" spc="69">
                <a:solidFill>
                  <a:srgbClr val="FFFFFF"/>
                </a:solidFill>
                <a:latin typeface="Codec Pro Bold"/>
                <a:ea typeface="Codec Pro Bold"/>
                <a:cs typeface="Codec Pro Bold"/>
                <a:sym typeface="Codec Pro Bold"/>
              </a:rPr>
              <a:t>GDP (−0.0685, p &lt; 0.001)</a:t>
            </a:r>
          </a:p>
          <a:p>
            <a:pPr algn="ctr">
              <a:lnSpc>
                <a:spcPts val="2874"/>
              </a:lnSpc>
              <a:spcBef>
                <a:spcPct val="0"/>
              </a:spcBef>
            </a:pPr>
            <a:r>
              <a:rPr lang="en-US" b="true" sz="2499" spc="69">
                <a:solidFill>
                  <a:srgbClr val="FFFFFF"/>
                </a:solidFill>
                <a:latin typeface="Codec Pro Bold"/>
                <a:ea typeface="Codec Pro Bold"/>
                <a:cs typeface="Codec Pro Bold"/>
                <a:sym typeface="Codec Pro Bold"/>
              </a:rPr>
              <a:t> Higher GDP significantly reduces unemployment.</a:t>
            </a:r>
          </a:p>
          <a:p>
            <a:pPr algn="ctr">
              <a:lnSpc>
                <a:spcPts val="2874"/>
              </a:lnSpc>
              <a:spcBef>
                <a:spcPct val="0"/>
              </a:spcBef>
            </a:pPr>
            <a:r>
              <a:rPr lang="en-US" b="true" sz="2499" spc="69">
                <a:solidFill>
                  <a:srgbClr val="FFFFFF"/>
                </a:solidFill>
                <a:latin typeface="Codec Pro Bold"/>
                <a:ea typeface="Codec Pro Bold"/>
                <a:cs typeface="Codec Pro Bold"/>
                <a:sym typeface="Codec Pro Bold"/>
              </a:rPr>
              <a:t> A one-unit increase in GDP lowers unemployment by approximately 0.07 percentage points, confirming the role of economic growth in job creation.</a:t>
            </a:r>
          </a:p>
          <a:p>
            <a:pPr algn="ctr">
              <a:lnSpc>
                <a:spcPts val="2874"/>
              </a:lnSpc>
              <a:spcBef>
                <a:spcPct val="0"/>
              </a:spcBef>
            </a:pPr>
          </a:p>
          <a:p>
            <a:pPr algn="ctr">
              <a:lnSpc>
                <a:spcPts val="2874"/>
              </a:lnSpc>
              <a:spcBef>
                <a:spcPct val="0"/>
              </a:spcBef>
            </a:pPr>
            <a:r>
              <a:rPr lang="en-US" b="true" sz="2499" spc="69">
                <a:solidFill>
                  <a:srgbClr val="FFFFFF"/>
                </a:solidFill>
                <a:latin typeface="Codec Pro Bold"/>
                <a:ea typeface="Codec Pro Bold"/>
                <a:cs typeface="Codec Pro Bold"/>
                <a:sym typeface="Codec Pro Bold"/>
              </a:rPr>
              <a:t>Agricultural Share (+0.0655, p &lt; 0.001)</a:t>
            </a:r>
          </a:p>
          <a:p>
            <a:pPr algn="ctr">
              <a:lnSpc>
                <a:spcPts val="2874"/>
              </a:lnSpc>
              <a:spcBef>
                <a:spcPct val="0"/>
              </a:spcBef>
            </a:pPr>
            <a:r>
              <a:rPr lang="en-US" b="true" sz="2499" spc="69">
                <a:solidFill>
                  <a:srgbClr val="FFFFFF"/>
                </a:solidFill>
                <a:latin typeface="Codec Pro Bold"/>
                <a:ea typeface="Codec Pro Bold"/>
                <a:cs typeface="Codec Pro Bold"/>
                <a:sym typeface="Codec Pro Bold"/>
              </a:rPr>
              <a:t> Regions with a higher reliance on agriculture experience higher unemployment.</a:t>
            </a:r>
          </a:p>
          <a:p>
            <a:pPr algn="ctr">
              <a:lnSpc>
                <a:spcPts val="2874"/>
              </a:lnSpc>
              <a:spcBef>
                <a:spcPct val="0"/>
              </a:spcBef>
            </a:pPr>
            <a:r>
              <a:rPr lang="en-US" b="true" sz="2499" spc="69">
                <a:solidFill>
                  <a:srgbClr val="FFFFFF"/>
                </a:solidFill>
                <a:latin typeface="Codec Pro Bold"/>
                <a:ea typeface="Codec Pro Bold"/>
                <a:cs typeface="Codec Pro Bold"/>
                <a:sym typeface="Codec Pro Bold"/>
              </a:rPr>
              <a:t> This reflects structural inefficiencies, lower productivity, and seasonality in agricultural sectors.</a:t>
            </a:r>
          </a:p>
          <a:p>
            <a:pPr algn="ctr">
              <a:lnSpc>
                <a:spcPts val="2874"/>
              </a:lnSpc>
              <a:spcBef>
                <a:spcPct val="0"/>
              </a:spcBef>
            </a:pPr>
          </a:p>
          <a:p>
            <a:pPr algn="ctr">
              <a:lnSpc>
                <a:spcPts val="2874"/>
              </a:lnSpc>
              <a:spcBef>
                <a:spcPct val="0"/>
              </a:spcBef>
            </a:pPr>
            <a:r>
              <a:rPr lang="en-US" b="true" sz="2499" spc="69">
                <a:solidFill>
                  <a:srgbClr val="FFFFFF"/>
                </a:solidFill>
                <a:latin typeface="Codec Pro Bold"/>
                <a:ea typeface="Codec Pro Bold"/>
                <a:cs typeface="Codec Pro Bold"/>
                <a:sym typeface="Codec Pro Bold"/>
              </a:rPr>
              <a:t>Education (+0.224, p &lt; 0.001)</a:t>
            </a:r>
          </a:p>
          <a:p>
            <a:pPr algn="ctr">
              <a:lnSpc>
                <a:spcPts val="2874"/>
              </a:lnSpc>
              <a:spcBef>
                <a:spcPct val="0"/>
              </a:spcBef>
            </a:pPr>
            <a:r>
              <a:rPr lang="en-US" b="true" sz="2499" spc="69">
                <a:solidFill>
                  <a:srgbClr val="FFFFFF"/>
                </a:solidFill>
                <a:latin typeface="Codec Pro Bold"/>
                <a:ea typeface="Codec Pro Bold"/>
                <a:cs typeface="Codec Pro Bold"/>
                <a:sym typeface="Codec Pro Bold"/>
              </a:rPr>
              <a:t> Higher education levels are associated with higher unemployment.</a:t>
            </a:r>
          </a:p>
          <a:p>
            <a:pPr algn="ctr">
              <a:lnSpc>
                <a:spcPts val="2874"/>
              </a:lnSpc>
              <a:spcBef>
                <a:spcPct val="0"/>
              </a:spcBef>
            </a:pPr>
            <a:r>
              <a:rPr lang="en-US" b="true" sz="2499" spc="69">
                <a:solidFill>
                  <a:srgbClr val="FFFFFF"/>
                </a:solidFill>
                <a:latin typeface="Codec Pro Bold"/>
                <a:ea typeface="Codec Pro Bold"/>
                <a:cs typeface="Codec Pro Bold"/>
                <a:sym typeface="Codec Pro Bold"/>
              </a:rPr>
              <a:t> This may indicate skills mismatch, delayed labor market entry, or overqualification in some regions.</a:t>
            </a:r>
          </a:p>
          <a:p>
            <a:pPr algn="ctr">
              <a:lnSpc>
                <a:spcPts val="2874"/>
              </a:lnSpc>
              <a:spcBef>
                <a:spcPct val="0"/>
              </a:spcBef>
            </a:pPr>
          </a:p>
          <a:p>
            <a:pPr algn="ctr">
              <a:lnSpc>
                <a:spcPts val="2874"/>
              </a:lnSpc>
              <a:spcBef>
                <a:spcPct val="0"/>
              </a:spcBef>
            </a:pPr>
            <a:r>
              <a:rPr lang="en-US" b="true" sz="2499" spc="69">
                <a:solidFill>
                  <a:srgbClr val="FFFFFF"/>
                </a:solidFill>
                <a:latin typeface="Codec Pro Bold"/>
                <a:ea typeface="Codec Pro Bold"/>
                <a:cs typeface="Codec Pro Bold"/>
                <a:sym typeface="Codec Pro Bold"/>
              </a:rPr>
              <a:t>Population Density (−0.0004, not significant)</a:t>
            </a:r>
          </a:p>
          <a:p>
            <a:pPr algn="ctr">
              <a:lnSpc>
                <a:spcPts val="2874"/>
              </a:lnSpc>
              <a:spcBef>
                <a:spcPct val="0"/>
              </a:spcBef>
            </a:pPr>
            <a:r>
              <a:rPr lang="en-US" b="true" sz="2499" spc="69">
                <a:solidFill>
                  <a:srgbClr val="FFFFFF"/>
                </a:solidFill>
                <a:latin typeface="Codec Pro Bold"/>
                <a:ea typeface="Codec Pro Bold"/>
                <a:cs typeface="Codec Pro Bold"/>
                <a:sym typeface="Codec Pro Bold"/>
              </a:rPr>
              <a:t> Population density has no statistically significant effect on unemployment in this model.</a:t>
            </a:r>
          </a:p>
        </p:txBody>
      </p:sp>
      <p:sp>
        <p:nvSpPr>
          <p:cNvPr name="TextBox 13" id="13"/>
          <p:cNvSpPr txBox="true"/>
          <p:nvPr/>
        </p:nvSpPr>
        <p:spPr>
          <a:xfrm rot="0">
            <a:off x="1215522" y="6508217"/>
            <a:ext cx="6449463" cy="1130300"/>
          </a:xfrm>
          <a:prstGeom prst="rect">
            <a:avLst/>
          </a:prstGeom>
        </p:spPr>
        <p:txBody>
          <a:bodyPr anchor="t" rtlCol="false" tIns="0" lIns="0" bIns="0" rIns="0">
            <a:spAutoFit/>
          </a:bodyPr>
          <a:lstStyle/>
          <a:p>
            <a:pPr algn="ctr">
              <a:lnSpc>
                <a:spcPts val="2874"/>
              </a:lnSpc>
              <a:spcBef>
                <a:spcPct val="0"/>
              </a:spcBef>
            </a:pPr>
            <a:r>
              <a:rPr lang="en-US" b="true" sz="2499" spc="69">
                <a:solidFill>
                  <a:srgbClr val="FFFFFF"/>
                </a:solidFill>
                <a:latin typeface="Codec Pro Bold"/>
                <a:ea typeface="Codec Pro Bold"/>
                <a:cs typeface="Codec Pro Bold"/>
                <a:sym typeface="Codec Pro Bold"/>
              </a:rPr>
              <a:t>Model B provides a statistically valid but less comprehensive explanation of unemployment compared to Model A.</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sp>
        <p:nvSpPr>
          <p:cNvPr name="Freeform 3" id="3"/>
          <p:cNvSpPr/>
          <p:nvPr/>
        </p:nvSpPr>
        <p:spPr>
          <a:xfrm flipH="false" flipV="false" rot="6303208">
            <a:off x="11451451" y="-2503214"/>
            <a:ext cx="8170649" cy="8170649"/>
          </a:xfrm>
          <a:custGeom>
            <a:avLst/>
            <a:gdLst/>
            <a:ahLst/>
            <a:cxnLst/>
            <a:rect r="r" b="b" t="t" l="l"/>
            <a:pathLst>
              <a:path h="8170649" w="8170649">
                <a:moveTo>
                  <a:pt x="0" y="0"/>
                </a:moveTo>
                <a:lnTo>
                  <a:pt x="8170648" y="0"/>
                </a:lnTo>
                <a:lnTo>
                  <a:pt x="8170648" y="8170648"/>
                </a:lnTo>
                <a:lnTo>
                  <a:pt x="0" y="817064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615632" y="4634341"/>
            <a:ext cx="17334763" cy="4749800"/>
          </a:xfrm>
          <a:prstGeom prst="rect">
            <a:avLst/>
          </a:prstGeom>
        </p:spPr>
        <p:txBody>
          <a:bodyPr anchor="t" rtlCol="false" tIns="0" lIns="0" bIns="0" rIns="0">
            <a:spAutoFit/>
          </a:bodyPr>
          <a:lstStyle/>
          <a:p>
            <a:pPr algn="ctr">
              <a:lnSpc>
                <a:spcPts val="2874"/>
              </a:lnSpc>
              <a:spcBef>
                <a:spcPct val="0"/>
              </a:spcBef>
            </a:pPr>
          </a:p>
          <a:p>
            <a:pPr algn="ctr">
              <a:lnSpc>
                <a:spcPts val="2874"/>
              </a:lnSpc>
              <a:spcBef>
                <a:spcPct val="0"/>
              </a:spcBef>
            </a:pPr>
            <a:r>
              <a:rPr lang="en-US" b="true" sz="2499" spc="69">
                <a:solidFill>
                  <a:srgbClr val="FFFFFF"/>
                </a:solidFill>
                <a:latin typeface="Codec Pro Bold"/>
                <a:ea typeface="Codec Pro Bold"/>
                <a:cs typeface="Codec Pro Bold"/>
                <a:sym typeface="Codec Pro Bold"/>
              </a:rPr>
              <a:t>Model 2 omits the CEE regional dummy, leading to:</a:t>
            </a:r>
          </a:p>
          <a:p>
            <a:pPr algn="ctr">
              <a:lnSpc>
                <a:spcPts val="2874"/>
              </a:lnSpc>
              <a:spcBef>
                <a:spcPct val="0"/>
              </a:spcBef>
            </a:pPr>
            <a:r>
              <a:rPr lang="en-US" b="true" sz="2499" spc="69">
                <a:solidFill>
                  <a:srgbClr val="FFFFFF"/>
                </a:solidFill>
                <a:latin typeface="Codec Pro Bold"/>
                <a:ea typeface="Codec Pro Bold"/>
                <a:cs typeface="Codec Pro Bold"/>
                <a:sym typeface="Codec Pro Bold"/>
              </a:rPr>
              <a:t>Lower explanatory power (R² = 0.429 vs. 0.568)</a:t>
            </a:r>
          </a:p>
          <a:p>
            <a:pPr algn="ctr">
              <a:lnSpc>
                <a:spcPts val="2874"/>
              </a:lnSpc>
              <a:spcBef>
                <a:spcPct val="0"/>
              </a:spcBef>
            </a:pPr>
            <a:r>
              <a:rPr lang="en-US" b="true" sz="2499" spc="69">
                <a:solidFill>
                  <a:srgbClr val="FFFFFF"/>
                </a:solidFill>
                <a:latin typeface="Codec Pro Bold"/>
                <a:ea typeface="Codec Pro Bold"/>
                <a:cs typeface="Codec Pro Bold"/>
                <a:sym typeface="Codec Pro Bold"/>
              </a:rPr>
              <a:t>Larger residual variance</a:t>
            </a:r>
          </a:p>
          <a:p>
            <a:pPr algn="ctr">
              <a:lnSpc>
                <a:spcPts val="2874"/>
              </a:lnSpc>
              <a:spcBef>
                <a:spcPct val="0"/>
              </a:spcBef>
            </a:pPr>
            <a:r>
              <a:rPr lang="en-US" b="true" sz="2499" spc="69">
                <a:solidFill>
                  <a:srgbClr val="FFFFFF"/>
                </a:solidFill>
                <a:latin typeface="Codec Pro Bold"/>
                <a:ea typeface="Codec Pro Bold"/>
                <a:cs typeface="Codec Pro Bold"/>
                <a:sym typeface="Codec Pro Bold"/>
              </a:rPr>
              <a:t>Potential omitted variable bias</a:t>
            </a:r>
          </a:p>
          <a:p>
            <a:pPr algn="ctr">
              <a:lnSpc>
                <a:spcPts val="2874"/>
              </a:lnSpc>
              <a:spcBef>
                <a:spcPct val="0"/>
              </a:spcBef>
            </a:pPr>
            <a:r>
              <a:rPr lang="en-US" b="true" sz="2499" spc="69">
                <a:solidFill>
                  <a:srgbClr val="FFFFFF"/>
                </a:solidFill>
                <a:latin typeface="Codec Pro Bold"/>
                <a:ea typeface="Codec Pro Bold"/>
                <a:cs typeface="Codec Pro Bold"/>
                <a:sym typeface="Codec Pro Bold"/>
              </a:rPr>
              <a:t>The stronger performance of Model 1 suggests that regional characteristics play a crucial role in explaining unemployment differences.</a:t>
            </a:r>
          </a:p>
          <a:p>
            <a:pPr algn="ctr">
              <a:lnSpc>
                <a:spcPts val="2874"/>
              </a:lnSpc>
              <a:spcBef>
                <a:spcPct val="0"/>
              </a:spcBef>
            </a:pPr>
            <a:r>
              <a:rPr lang="en-US" b="true" sz="2499" spc="69">
                <a:solidFill>
                  <a:srgbClr val="FFFFFF"/>
                </a:solidFill>
                <a:latin typeface="Codec Pro Bold"/>
                <a:ea typeface="Codec Pro Bold"/>
                <a:cs typeface="Codec Pro Bold"/>
                <a:sym typeface="Codec Pro Bold"/>
              </a:rPr>
              <a:t>Final Assessment</a:t>
            </a:r>
          </a:p>
          <a:p>
            <a:pPr algn="ctr">
              <a:lnSpc>
                <a:spcPts val="2874"/>
              </a:lnSpc>
              <a:spcBef>
                <a:spcPct val="0"/>
              </a:spcBef>
            </a:pPr>
            <a:r>
              <a:rPr lang="en-US" b="true" sz="2499" spc="69">
                <a:solidFill>
                  <a:srgbClr val="FFFFFF"/>
                </a:solidFill>
                <a:latin typeface="Codec Pro Bold"/>
                <a:ea typeface="Codec Pro Bold"/>
                <a:cs typeface="Codec Pro Bold"/>
                <a:sym typeface="Codec Pro Bold"/>
              </a:rPr>
              <a:t>While Model 2 identifies important economic drivers of unemployment, it fails to capture systematic regional effects, making it inferior to Model 1 for policy analysis and inference. Model 1 not only fits the data better than Model 2 but also yields statistically significant and economically meaningful coefficients, confirming the importance of economic performance, sectoral structure, and regional characteristics in explaining unemployment differences.</a:t>
            </a:r>
          </a:p>
        </p:txBody>
      </p:sp>
      <p:sp>
        <p:nvSpPr>
          <p:cNvPr name="TextBox 5" id="5"/>
          <p:cNvSpPr txBox="true"/>
          <p:nvPr/>
        </p:nvSpPr>
        <p:spPr>
          <a:xfrm rot="0">
            <a:off x="-1235238" y="444874"/>
            <a:ext cx="16230600" cy="2207797"/>
          </a:xfrm>
          <a:prstGeom prst="rect">
            <a:avLst/>
          </a:prstGeom>
        </p:spPr>
        <p:txBody>
          <a:bodyPr anchor="t" rtlCol="false" tIns="0" lIns="0" bIns="0" rIns="0">
            <a:spAutoFit/>
          </a:bodyPr>
          <a:lstStyle/>
          <a:p>
            <a:pPr algn="ctr">
              <a:lnSpc>
                <a:spcPts val="8262"/>
              </a:lnSpc>
              <a:spcBef>
                <a:spcPct val="0"/>
              </a:spcBef>
            </a:pPr>
            <a:r>
              <a:rPr lang="en-US" b="true" sz="7184" spc="201">
                <a:solidFill>
                  <a:srgbClr val="FFFFFF"/>
                </a:solidFill>
                <a:latin typeface="Codec Pro Bold"/>
                <a:ea typeface="Codec Pro Bold"/>
                <a:cs typeface="Codec Pro Bold"/>
                <a:sym typeface="Codec Pro Bold"/>
              </a:rPr>
              <a:t>Comparison with Model 1 (Interpretative Insight)</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1605" t="0" r="-1605" b="0"/>
            </a:stretch>
          </a:blipFill>
        </p:spPr>
      </p:sp>
      <p:sp>
        <p:nvSpPr>
          <p:cNvPr name="Freeform 3" id="3"/>
          <p:cNvSpPr/>
          <p:nvPr/>
        </p:nvSpPr>
        <p:spPr>
          <a:xfrm flipH="false" flipV="false" rot="6303208">
            <a:off x="-477132" y="-3603310"/>
            <a:ext cx="8170649" cy="8170649"/>
          </a:xfrm>
          <a:custGeom>
            <a:avLst/>
            <a:gdLst/>
            <a:ahLst/>
            <a:cxnLst/>
            <a:rect r="r" b="b" t="t" l="l"/>
            <a:pathLst>
              <a:path h="8170649" w="8170649">
                <a:moveTo>
                  <a:pt x="0" y="0"/>
                </a:moveTo>
                <a:lnTo>
                  <a:pt x="8170649" y="0"/>
                </a:lnTo>
                <a:lnTo>
                  <a:pt x="8170649" y="8170648"/>
                </a:lnTo>
                <a:lnTo>
                  <a:pt x="0" y="817064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376496">
            <a:off x="8037943" y="7174153"/>
            <a:ext cx="2052766" cy="2052766"/>
          </a:xfrm>
          <a:custGeom>
            <a:avLst/>
            <a:gdLst/>
            <a:ahLst/>
            <a:cxnLst/>
            <a:rect r="r" b="b" t="t" l="l"/>
            <a:pathLst>
              <a:path h="2052766" w="2052766">
                <a:moveTo>
                  <a:pt x="0" y="0"/>
                </a:moveTo>
                <a:lnTo>
                  <a:pt x="2052766" y="0"/>
                </a:lnTo>
                <a:lnTo>
                  <a:pt x="2052766" y="2052766"/>
                </a:lnTo>
                <a:lnTo>
                  <a:pt x="0" y="205276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6303208">
            <a:off x="14359247" y="2250803"/>
            <a:ext cx="1194157" cy="1194157"/>
          </a:xfrm>
          <a:custGeom>
            <a:avLst/>
            <a:gdLst/>
            <a:ahLst/>
            <a:cxnLst/>
            <a:rect r="r" b="b" t="t" l="l"/>
            <a:pathLst>
              <a:path h="1194157" w="1194157">
                <a:moveTo>
                  <a:pt x="0" y="0"/>
                </a:moveTo>
                <a:lnTo>
                  <a:pt x="1194157" y="0"/>
                </a:lnTo>
                <a:lnTo>
                  <a:pt x="1194157" y="1194158"/>
                </a:lnTo>
                <a:lnTo>
                  <a:pt x="0" y="119415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6303208">
            <a:off x="-2525979" y="5599061"/>
            <a:ext cx="5632506" cy="5632506"/>
          </a:xfrm>
          <a:custGeom>
            <a:avLst/>
            <a:gdLst/>
            <a:ahLst/>
            <a:cxnLst/>
            <a:rect r="r" b="b" t="t" l="l"/>
            <a:pathLst>
              <a:path h="5632506" w="5632506">
                <a:moveTo>
                  <a:pt x="0" y="0"/>
                </a:moveTo>
                <a:lnTo>
                  <a:pt x="5632506" y="0"/>
                </a:lnTo>
                <a:lnTo>
                  <a:pt x="5632506" y="5632506"/>
                </a:lnTo>
                <a:lnTo>
                  <a:pt x="0" y="563250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0">
            <a:off x="518187" y="2285792"/>
            <a:ext cx="7288525" cy="6404792"/>
          </a:xfrm>
          <a:custGeom>
            <a:avLst/>
            <a:gdLst/>
            <a:ahLst/>
            <a:cxnLst/>
            <a:rect r="r" b="b" t="t" l="l"/>
            <a:pathLst>
              <a:path h="6404792" w="7288525">
                <a:moveTo>
                  <a:pt x="0" y="0"/>
                </a:moveTo>
                <a:lnTo>
                  <a:pt x="7288525" y="0"/>
                </a:lnTo>
                <a:lnTo>
                  <a:pt x="7288525" y="6404792"/>
                </a:lnTo>
                <a:lnTo>
                  <a:pt x="0" y="6404792"/>
                </a:lnTo>
                <a:lnTo>
                  <a:pt x="0" y="0"/>
                </a:lnTo>
                <a:close/>
              </a:path>
            </a:pathLst>
          </a:custGeom>
          <a:blipFill>
            <a:blip r:embed="rId7"/>
            <a:stretch>
              <a:fillRect l="0" t="0" r="0" b="0"/>
            </a:stretch>
          </a:blipFill>
        </p:spPr>
      </p:sp>
      <p:sp>
        <p:nvSpPr>
          <p:cNvPr name="TextBox 8" id="8"/>
          <p:cNvSpPr txBox="true"/>
          <p:nvPr/>
        </p:nvSpPr>
        <p:spPr>
          <a:xfrm rot="0">
            <a:off x="0" y="415339"/>
            <a:ext cx="18116169" cy="1160047"/>
          </a:xfrm>
          <a:prstGeom prst="rect">
            <a:avLst/>
          </a:prstGeom>
        </p:spPr>
        <p:txBody>
          <a:bodyPr anchor="t" rtlCol="false" tIns="0" lIns="0" bIns="0" rIns="0">
            <a:spAutoFit/>
          </a:bodyPr>
          <a:lstStyle/>
          <a:p>
            <a:pPr algn="ctr">
              <a:lnSpc>
                <a:spcPts val="8262"/>
              </a:lnSpc>
              <a:spcBef>
                <a:spcPct val="0"/>
              </a:spcBef>
            </a:pPr>
            <a:r>
              <a:rPr lang="en-US" b="true" sz="7184" spc="201">
                <a:solidFill>
                  <a:srgbClr val="FFFFFF"/>
                </a:solidFill>
                <a:latin typeface="Codec Pro Bold"/>
                <a:ea typeface="Codec Pro Bold"/>
                <a:cs typeface="Codec Pro Bold"/>
                <a:sym typeface="Codec Pro Bold"/>
              </a:rPr>
              <a:t>Linear regression model 1 assumptions</a:t>
            </a:r>
          </a:p>
        </p:txBody>
      </p:sp>
      <p:sp>
        <p:nvSpPr>
          <p:cNvPr name="TextBox 9" id="9"/>
          <p:cNvSpPr txBox="true"/>
          <p:nvPr/>
        </p:nvSpPr>
        <p:spPr>
          <a:xfrm rot="0">
            <a:off x="8473523" y="2078119"/>
            <a:ext cx="6761500" cy="495300"/>
          </a:xfrm>
          <a:prstGeom prst="rect">
            <a:avLst/>
          </a:prstGeom>
        </p:spPr>
        <p:txBody>
          <a:bodyPr anchor="t" rtlCol="false" tIns="0" lIns="0" bIns="0" rIns="0">
            <a:spAutoFit/>
          </a:bodyPr>
          <a:lstStyle/>
          <a:p>
            <a:pPr algn="ctr">
              <a:lnSpc>
                <a:spcPts val="3450"/>
              </a:lnSpc>
              <a:spcBef>
                <a:spcPct val="0"/>
              </a:spcBef>
            </a:pPr>
            <a:r>
              <a:rPr lang="en-US" b="true" sz="3000" spc="84">
                <a:solidFill>
                  <a:srgbClr val="FFFFFF"/>
                </a:solidFill>
                <a:latin typeface="Codec Pro Bold"/>
                <a:ea typeface="Codec Pro Bold"/>
                <a:cs typeface="Codec Pro Bold"/>
                <a:sym typeface="Codec Pro Bold"/>
              </a:rPr>
              <a:t>✔ Collinearity assumption satisfied</a:t>
            </a:r>
          </a:p>
        </p:txBody>
      </p:sp>
      <p:sp>
        <p:nvSpPr>
          <p:cNvPr name="TextBox 10" id="10"/>
          <p:cNvSpPr txBox="true"/>
          <p:nvPr/>
        </p:nvSpPr>
        <p:spPr>
          <a:xfrm rot="0">
            <a:off x="8614366" y="4876800"/>
            <a:ext cx="6440567" cy="495300"/>
          </a:xfrm>
          <a:prstGeom prst="rect">
            <a:avLst/>
          </a:prstGeom>
        </p:spPr>
        <p:txBody>
          <a:bodyPr anchor="t" rtlCol="false" tIns="0" lIns="0" bIns="0" rIns="0">
            <a:spAutoFit/>
          </a:bodyPr>
          <a:lstStyle/>
          <a:p>
            <a:pPr algn="ctr">
              <a:lnSpc>
                <a:spcPts val="3450"/>
              </a:lnSpc>
              <a:spcBef>
                <a:spcPct val="0"/>
              </a:spcBef>
            </a:pPr>
            <a:r>
              <a:rPr lang="en-US" b="true" sz="3000" spc="84">
                <a:solidFill>
                  <a:srgbClr val="FFFFFF"/>
                </a:solidFill>
                <a:latin typeface="Codec Pro Bold"/>
                <a:ea typeface="Codec Pro Bold"/>
                <a:cs typeface="Codec Pro Bold"/>
                <a:sym typeface="Codec Pro Bold"/>
              </a:rPr>
              <a:t>✔ Normality assumption satisfied</a:t>
            </a:r>
          </a:p>
        </p:txBody>
      </p:sp>
      <p:sp>
        <p:nvSpPr>
          <p:cNvPr name="TextBox 11" id="11"/>
          <p:cNvSpPr txBox="true"/>
          <p:nvPr/>
        </p:nvSpPr>
        <p:spPr>
          <a:xfrm rot="0">
            <a:off x="5587910" y="7465487"/>
            <a:ext cx="15051444" cy="488950"/>
          </a:xfrm>
          <a:prstGeom prst="rect">
            <a:avLst/>
          </a:prstGeom>
        </p:spPr>
        <p:txBody>
          <a:bodyPr anchor="t" rtlCol="false" tIns="0" lIns="0" bIns="0" rIns="0">
            <a:spAutoFit/>
          </a:bodyPr>
          <a:lstStyle/>
          <a:p>
            <a:pPr algn="ctr">
              <a:lnSpc>
                <a:spcPts val="3335"/>
              </a:lnSpc>
              <a:spcBef>
                <a:spcPct val="0"/>
              </a:spcBef>
            </a:pPr>
            <a:r>
              <a:rPr lang="en-US" b="true" sz="2900" spc="81">
                <a:solidFill>
                  <a:srgbClr val="FFFFFF"/>
                </a:solidFill>
                <a:latin typeface="Codec Pro Bold"/>
                <a:ea typeface="Codec Pro Bold"/>
                <a:cs typeface="Codec Pro Bold"/>
                <a:sym typeface="Codec Pro Bold"/>
              </a:rPr>
              <a:t>✔ Homoscedasticity assumption broadly satisfied</a:t>
            </a:r>
          </a:p>
        </p:txBody>
      </p:sp>
      <p:sp>
        <p:nvSpPr>
          <p:cNvPr name="TextBox 12" id="12"/>
          <p:cNvSpPr txBox="true"/>
          <p:nvPr/>
        </p:nvSpPr>
        <p:spPr>
          <a:xfrm rot="0">
            <a:off x="8824029" y="2747975"/>
            <a:ext cx="9463971" cy="1492250"/>
          </a:xfrm>
          <a:prstGeom prst="rect">
            <a:avLst/>
          </a:prstGeom>
        </p:spPr>
        <p:txBody>
          <a:bodyPr anchor="t" rtlCol="false" tIns="0" lIns="0" bIns="0" rIns="0">
            <a:spAutoFit/>
          </a:bodyPr>
          <a:lstStyle/>
          <a:p>
            <a:pPr algn="ctr">
              <a:lnSpc>
                <a:spcPts val="2874"/>
              </a:lnSpc>
              <a:spcBef>
                <a:spcPct val="0"/>
              </a:spcBef>
            </a:pPr>
            <a:r>
              <a:rPr lang="en-US" b="true" sz="2499" spc="69">
                <a:solidFill>
                  <a:srgbClr val="FFFFFF"/>
                </a:solidFill>
                <a:latin typeface="Codec Pro Bold"/>
                <a:ea typeface="Codec Pro Bold"/>
                <a:cs typeface="Codec Pro Bold"/>
                <a:sym typeface="Codec Pro Bold"/>
              </a:rPr>
              <a:t>All VIF values are well below 5 (and far below 10).</a:t>
            </a:r>
          </a:p>
          <a:p>
            <a:pPr algn="ctr">
              <a:lnSpc>
                <a:spcPts val="2874"/>
              </a:lnSpc>
              <a:spcBef>
                <a:spcPct val="0"/>
              </a:spcBef>
            </a:pPr>
            <a:r>
              <a:rPr lang="en-US" b="true" sz="2499" spc="69">
                <a:solidFill>
                  <a:srgbClr val="FFFFFF"/>
                </a:solidFill>
                <a:latin typeface="Codec Pro Bold"/>
                <a:ea typeface="Codec Pro Bold"/>
                <a:cs typeface="Codec Pro Bold"/>
                <a:sym typeface="Codec Pro Bold"/>
              </a:rPr>
              <a:t>This indicates no serious multicollinearity among regressors.</a:t>
            </a:r>
          </a:p>
          <a:p>
            <a:pPr algn="ctr">
              <a:lnSpc>
                <a:spcPts val="2874"/>
              </a:lnSpc>
              <a:spcBef>
                <a:spcPct val="0"/>
              </a:spcBef>
            </a:pPr>
            <a:r>
              <a:rPr lang="en-US" b="true" sz="2499" spc="69">
                <a:solidFill>
                  <a:srgbClr val="FFFFFF"/>
                </a:solidFill>
                <a:latin typeface="Codec Pro Bold"/>
                <a:ea typeface="Codec Pro Bold"/>
                <a:cs typeface="Codec Pro Bold"/>
                <a:sym typeface="Codec Pro Bold"/>
              </a:rPr>
              <a:t>Coefficient estimates are stable and reliable.</a:t>
            </a:r>
          </a:p>
        </p:txBody>
      </p:sp>
      <p:sp>
        <p:nvSpPr>
          <p:cNvPr name="TextBox 13" id="13"/>
          <p:cNvSpPr txBox="true"/>
          <p:nvPr/>
        </p:nvSpPr>
        <p:spPr>
          <a:xfrm rot="0">
            <a:off x="9558562" y="5412813"/>
            <a:ext cx="8402808" cy="1854200"/>
          </a:xfrm>
          <a:prstGeom prst="rect">
            <a:avLst/>
          </a:prstGeom>
        </p:spPr>
        <p:txBody>
          <a:bodyPr anchor="t" rtlCol="false" tIns="0" lIns="0" bIns="0" rIns="0">
            <a:spAutoFit/>
          </a:bodyPr>
          <a:lstStyle/>
          <a:p>
            <a:pPr algn="ctr">
              <a:lnSpc>
                <a:spcPts val="2874"/>
              </a:lnSpc>
              <a:spcBef>
                <a:spcPct val="0"/>
              </a:spcBef>
            </a:pPr>
            <a:r>
              <a:rPr lang="en-US" b="true" sz="2499" spc="69">
                <a:solidFill>
                  <a:srgbClr val="FFFFFF"/>
                </a:solidFill>
                <a:latin typeface="Codec Pro Bold"/>
                <a:ea typeface="Codec Pro Bold"/>
                <a:cs typeface="Codec Pro Bold"/>
                <a:sym typeface="Codec Pro Bold"/>
              </a:rPr>
              <a:t>The null hypothesis of normally distributed residuals cannot be rejected.</a:t>
            </a:r>
          </a:p>
          <a:p>
            <a:pPr algn="ctr">
              <a:lnSpc>
                <a:spcPts val="2874"/>
              </a:lnSpc>
              <a:spcBef>
                <a:spcPct val="0"/>
              </a:spcBef>
            </a:pPr>
            <a:r>
              <a:rPr lang="en-US" b="true" sz="2499" spc="69">
                <a:solidFill>
                  <a:srgbClr val="FFFFFF"/>
                </a:solidFill>
                <a:latin typeface="Codec Pro Bold"/>
                <a:ea typeface="Codec Pro Bold"/>
                <a:cs typeface="Codec Pro Bold"/>
                <a:sym typeface="Codec Pro Bold"/>
              </a:rPr>
              <a:t>Residuals are approximately normal.</a:t>
            </a:r>
          </a:p>
          <a:p>
            <a:pPr algn="ctr">
              <a:lnSpc>
                <a:spcPts val="2874"/>
              </a:lnSpc>
              <a:spcBef>
                <a:spcPct val="0"/>
              </a:spcBef>
            </a:pPr>
            <a:r>
              <a:rPr lang="en-US" b="true" sz="2499" spc="69">
                <a:solidFill>
                  <a:srgbClr val="FFFFFF"/>
                </a:solidFill>
                <a:latin typeface="Codec Pro Bold"/>
                <a:ea typeface="Codec Pro Bold"/>
                <a:cs typeface="Codec Pro Bold"/>
                <a:sym typeface="Codec Pro Bold"/>
              </a:rPr>
              <a:t>→ Validates the use of t-tests and F-tests for inference.</a:t>
            </a:r>
          </a:p>
        </p:txBody>
      </p:sp>
      <p:sp>
        <p:nvSpPr>
          <p:cNvPr name="TextBox 14" id="14"/>
          <p:cNvSpPr txBox="true"/>
          <p:nvPr/>
        </p:nvSpPr>
        <p:spPr>
          <a:xfrm rot="0">
            <a:off x="9064326" y="8171961"/>
            <a:ext cx="9051843" cy="1854200"/>
          </a:xfrm>
          <a:prstGeom prst="rect">
            <a:avLst/>
          </a:prstGeom>
        </p:spPr>
        <p:txBody>
          <a:bodyPr anchor="t" rtlCol="false" tIns="0" lIns="0" bIns="0" rIns="0">
            <a:spAutoFit/>
          </a:bodyPr>
          <a:lstStyle/>
          <a:p>
            <a:pPr algn="ctr">
              <a:lnSpc>
                <a:spcPts val="2874"/>
              </a:lnSpc>
              <a:spcBef>
                <a:spcPct val="0"/>
              </a:spcBef>
            </a:pPr>
            <a:r>
              <a:rPr lang="en-US" b="true" sz="2499" spc="69">
                <a:solidFill>
                  <a:srgbClr val="FFFFFF"/>
                </a:solidFill>
                <a:latin typeface="Codec Pro Bold"/>
                <a:ea typeface="Codec Pro Bold"/>
                <a:cs typeface="Codec Pro Bold"/>
                <a:sym typeface="Codec Pro Bold"/>
              </a:rPr>
              <a:t>The null hypothesis of constant error variance cannot be rejected at the 5% level.</a:t>
            </a:r>
          </a:p>
          <a:p>
            <a:pPr algn="ctr">
              <a:lnSpc>
                <a:spcPts val="2874"/>
              </a:lnSpc>
              <a:spcBef>
                <a:spcPct val="0"/>
              </a:spcBef>
            </a:pPr>
            <a:r>
              <a:rPr lang="en-US" b="true" sz="2499" spc="69">
                <a:solidFill>
                  <a:srgbClr val="FFFFFF"/>
                </a:solidFill>
                <a:latin typeface="Codec Pro Bold"/>
                <a:ea typeface="Codec Pro Bold"/>
                <a:cs typeface="Codec Pro Bold"/>
                <a:sym typeface="Codec Pro Bold"/>
              </a:rPr>
              <a:t>There is no strong evidence of heteroscedasticity.</a:t>
            </a:r>
          </a:p>
          <a:p>
            <a:pPr algn="ctr">
              <a:lnSpc>
                <a:spcPts val="2874"/>
              </a:lnSpc>
              <a:spcBef>
                <a:spcPct val="0"/>
              </a:spcBef>
            </a:pPr>
            <a:r>
              <a:rPr lang="en-US" b="true" sz="2499" spc="69">
                <a:solidFill>
                  <a:srgbClr val="FFFFFF"/>
                </a:solidFill>
                <a:latin typeface="Codec Pro Bold"/>
                <a:ea typeface="Codec Pro Bold"/>
                <a:cs typeface="Codec Pro Bold"/>
                <a:sym typeface="Codec Pro Bold"/>
              </a:rPr>
              <a:t>At most, there is weak heteroscedasticity at the 10% level, but not severe.</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1605" t="0" r="-1605" b="0"/>
            </a:stretch>
          </a:blipFill>
        </p:spPr>
      </p:sp>
      <p:sp>
        <p:nvSpPr>
          <p:cNvPr name="Freeform 3" id="3"/>
          <p:cNvSpPr/>
          <p:nvPr/>
        </p:nvSpPr>
        <p:spPr>
          <a:xfrm flipH="false" flipV="false" rot="6303208">
            <a:off x="11117592" y="7199541"/>
            <a:ext cx="8170649" cy="8170649"/>
          </a:xfrm>
          <a:custGeom>
            <a:avLst/>
            <a:gdLst/>
            <a:ahLst/>
            <a:cxnLst/>
            <a:rect r="r" b="b" t="t" l="l"/>
            <a:pathLst>
              <a:path h="8170649" w="8170649">
                <a:moveTo>
                  <a:pt x="0" y="0"/>
                </a:moveTo>
                <a:lnTo>
                  <a:pt x="8170649" y="0"/>
                </a:lnTo>
                <a:lnTo>
                  <a:pt x="8170649" y="8170649"/>
                </a:lnTo>
                <a:lnTo>
                  <a:pt x="0" y="817064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376496">
            <a:off x="8037943" y="7174153"/>
            <a:ext cx="2052766" cy="2052766"/>
          </a:xfrm>
          <a:custGeom>
            <a:avLst/>
            <a:gdLst/>
            <a:ahLst/>
            <a:cxnLst/>
            <a:rect r="r" b="b" t="t" l="l"/>
            <a:pathLst>
              <a:path h="2052766" w="2052766">
                <a:moveTo>
                  <a:pt x="0" y="0"/>
                </a:moveTo>
                <a:lnTo>
                  <a:pt x="2052766" y="0"/>
                </a:lnTo>
                <a:lnTo>
                  <a:pt x="2052766" y="2052766"/>
                </a:lnTo>
                <a:lnTo>
                  <a:pt x="0" y="205276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6303208">
            <a:off x="14359247" y="2250803"/>
            <a:ext cx="1194157" cy="1194157"/>
          </a:xfrm>
          <a:custGeom>
            <a:avLst/>
            <a:gdLst/>
            <a:ahLst/>
            <a:cxnLst/>
            <a:rect r="r" b="b" t="t" l="l"/>
            <a:pathLst>
              <a:path h="1194157" w="1194157">
                <a:moveTo>
                  <a:pt x="0" y="0"/>
                </a:moveTo>
                <a:lnTo>
                  <a:pt x="1194157" y="0"/>
                </a:lnTo>
                <a:lnTo>
                  <a:pt x="1194157" y="1194158"/>
                </a:lnTo>
                <a:lnTo>
                  <a:pt x="0" y="119415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6303208">
            <a:off x="-1399208" y="-1787553"/>
            <a:ext cx="5632506" cy="5632506"/>
          </a:xfrm>
          <a:custGeom>
            <a:avLst/>
            <a:gdLst/>
            <a:ahLst/>
            <a:cxnLst/>
            <a:rect r="r" b="b" t="t" l="l"/>
            <a:pathLst>
              <a:path h="5632506" w="5632506">
                <a:moveTo>
                  <a:pt x="0" y="0"/>
                </a:moveTo>
                <a:lnTo>
                  <a:pt x="5632507" y="0"/>
                </a:lnTo>
                <a:lnTo>
                  <a:pt x="5632507" y="5632506"/>
                </a:lnTo>
                <a:lnTo>
                  <a:pt x="0" y="563250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7" id="7"/>
          <p:cNvSpPr txBox="true"/>
          <p:nvPr/>
        </p:nvSpPr>
        <p:spPr>
          <a:xfrm rot="0">
            <a:off x="840905" y="1804128"/>
            <a:ext cx="17232665" cy="7840898"/>
          </a:xfrm>
          <a:prstGeom prst="rect">
            <a:avLst/>
          </a:prstGeom>
        </p:spPr>
        <p:txBody>
          <a:bodyPr anchor="t" rtlCol="false" tIns="0" lIns="0" bIns="0" rIns="0">
            <a:spAutoFit/>
          </a:bodyPr>
          <a:lstStyle/>
          <a:p>
            <a:pPr algn="r">
              <a:lnSpc>
                <a:spcPts val="3104"/>
              </a:lnSpc>
              <a:spcBef>
                <a:spcPct val="0"/>
              </a:spcBef>
            </a:pPr>
            <a:r>
              <a:rPr lang="en-US" b="true" sz="2699" spc="75">
                <a:solidFill>
                  <a:srgbClr val="FFFFFF"/>
                </a:solidFill>
                <a:latin typeface="Codec Pro Bold"/>
                <a:ea typeface="Codec Pro Bold"/>
                <a:cs typeface="Codec Pro Bold"/>
                <a:sym typeface="Codec Pro Bold"/>
              </a:rPr>
              <a:t>Autocorrelation (Durbin–Watson Test)</a:t>
            </a:r>
          </a:p>
          <a:p>
            <a:pPr algn="r">
              <a:lnSpc>
                <a:spcPts val="3104"/>
              </a:lnSpc>
              <a:spcBef>
                <a:spcPct val="0"/>
              </a:spcBef>
            </a:pPr>
            <a:r>
              <a:rPr lang="en-US" b="true" sz="2699" spc="75">
                <a:solidFill>
                  <a:srgbClr val="FFFFFF"/>
                </a:solidFill>
                <a:latin typeface="Codec Pro Bold"/>
                <a:ea typeface="Codec Pro Bold"/>
                <a:cs typeface="Codec Pro Bold"/>
                <a:sym typeface="Codec Pro Bold"/>
              </a:rPr>
              <a:t>Durbin–Watson statistic: DW = 1.12</a:t>
            </a:r>
          </a:p>
          <a:p>
            <a:pPr algn="r">
              <a:lnSpc>
                <a:spcPts val="3104"/>
              </a:lnSpc>
              <a:spcBef>
                <a:spcPct val="0"/>
              </a:spcBef>
            </a:pPr>
            <a:r>
              <a:rPr lang="en-US" b="true" sz="2699" spc="75">
                <a:solidFill>
                  <a:srgbClr val="FFFFFF"/>
                </a:solidFill>
                <a:latin typeface="Codec Pro Bold"/>
                <a:ea typeface="Codec Pro Bold"/>
                <a:cs typeface="Codec Pro Bold"/>
                <a:sym typeface="Codec Pro Bold"/>
              </a:rPr>
              <a:t>p-value: &lt; 0.001</a:t>
            </a:r>
          </a:p>
          <a:p>
            <a:pPr algn="r">
              <a:lnSpc>
                <a:spcPts val="3104"/>
              </a:lnSpc>
              <a:spcBef>
                <a:spcPct val="0"/>
              </a:spcBef>
            </a:pPr>
            <a:r>
              <a:rPr lang="en-US" b="true" sz="2699" spc="75">
                <a:solidFill>
                  <a:srgbClr val="FFFFFF"/>
                </a:solidFill>
                <a:latin typeface="Codec Pro Bold"/>
                <a:ea typeface="Codec Pro Bold"/>
                <a:cs typeface="Codec Pro Bold"/>
                <a:sym typeface="Codec Pro Bold"/>
              </a:rPr>
              <a:t>Interpretation</a:t>
            </a:r>
          </a:p>
          <a:p>
            <a:pPr algn="r">
              <a:lnSpc>
                <a:spcPts val="3104"/>
              </a:lnSpc>
              <a:spcBef>
                <a:spcPct val="0"/>
              </a:spcBef>
            </a:pPr>
            <a:r>
              <a:rPr lang="en-US" b="true" sz="2699" spc="75">
                <a:solidFill>
                  <a:srgbClr val="FFFFFF"/>
                </a:solidFill>
                <a:latin typeface="Codec Pro Bold"/>
                <a:ea typeface="Codec Pro Bold"/>
                <a:cs typeface="Codec Pro Bold"/>
                <a:sym typeface="Codec Pro Bold"/>
              </a:rPr>
              <a:t>The Durbin–Watson statistic is</a:t>
            </a:r>
          </a:p>
          <a:p>
            <a:pPr algn="r">
              <a:lnSpc>
                <a:spcPts val="3104"/>
              </a:lnSpc>
              <a:spcBef>
                <a:spcPct val="0"/>
              </a:spcBef>
            </a:pPr>
            <a:r>
              <a:rPr lang="en-US" b="true" sz="2699" spc="75">
                <a:solidFill>
                  <a:srgbClr val="FFFFFF"/>
                </a:solidFill>
                <a:latin typeface="Codec Pro Bold"/>
                <a:ea typeface="Codec Pro Bold"/>
                <a:cs typeface="Codec Pro Bold"/>
                <a:sym typeface="Codec Pro Bold"/>
              </a:rPr>
              <a:t> substantially below 2, </a:t>
            </a:r>
          </a:p>
          <a:p>
            <a:pPr algn="r">
              <a:lnSpc>
                <a:spcPts val="3104"/>
              </a:lnSpc>
              <a:spcBef>
                <a:spcPct val="0"/>
              </a:spcBef>
            </a:pPr>
            <a:r>
              <a:rPr lang="en-US" b="true" sz="2699" spc="75">
                <a:solidFill>
                  <a:srgbClr val="FFFFFF"/>
                </a:solidFill>
                <a:latin typeface="Codec Pro Bold"/>
                <a:ea typeface="Codec Pro Bold"/>
                <a:cs typeface="Codec Pro Bold"/>
                <a:sym typeface="Codec Pro Bold"/>
              </a:rPr>
              <a:t>indicating positive autocorrelation in the residuals.</a:t>
            </a:r>
          </a:p>
          <a:p>
            <a:pPr algn="r">
              <a:lnSpc>
                <a:spcPts val="3104"/>
              </a:lnSpc>
              <a:spcBef>
                <a:spcPct val="0"/>
              </a:spcBef>
            </a:pPr>
            <a:r>
              <a:rPr lang="en-US" b="true" sz="2699" spc="75">
                <a:solidFill>
                  <a:srgbClr val="FFFFFF"/>
                </a:solidFill>
                <a:latin typeface="Codec Pro Bold"/>
                <a:ea typeface="Codec Pro Bold"/>
                <a:cs typeface="Codec Pro Bold"/>
                <a:sym typeface="Codec Pro Bold"/>
              </a:rPr>
              <a:t>The very small p-value leads to rejection of the null hypothesis of no autocorrelation.This suggests that error terms are systematically correlated, violating the independence assumption of OLS.</a:t>
            </a:r>
          </a:p>
          <a:p>
            <a:pPr algn="l">
              <a:lnSpc>
                <a:spcPts val="3104"/>
              </a:lnSpc>
              <a:spcBef>
                <a:spcPct val="0"/>
              </a:spcBef>
            </a:pPr>
            <a:r>
              <a:rPr lang="en-US" b="true" sz="2699" spc="75">
                <a:solidFill>
                  <a:srgbClr val="FFFFFF"/>
                </a:solidFill>
                <a:latin typeface="Codec Pro Bold"/>
                <a:ea typeface="Codec Pro Bold"/>
                <a:cs typeface="Codec Pro Bold"/>
                <a:sym typeface="Codec Pro Bold"/>
              </a:rPr>
              <a:t>Implications for Model A</a:t>
            </a:r>
          </a:p>
          <a:p>
            <a:pPr algn="l">
              <a:lnSpc>
                <a:spcPts val="3104"/>
              </a:lnSpc>
              <a:spcBef>
                <a:spcPct val="0"/>
              </a:spcBef>
            </a:pPr>
            <a:r>
              <a:rPr lang="en-US" b="true" sz="2699" spc="75">
                <a:solidFill>
                  <a:srgbClr val="FFFFFF"/>
                </a:solidFill>
                <a:latin typeface="Codec Pro Bold"/>
                <a:ea typeface="Codec Pro Bold"/>
                <a:cs typeface="Codec Pro Bold"/>
                <a:sym typeface="Codec Pro Bold"/>
              </a:rPr>
              <a:t>Coefficient estimates remain unbiased, but:</a:t>
            </a:r>
          </a:p>
          <a:p>
            <a:pPr algn="l">
              <a:lnSpc>
                <a:spcPts val="3104"/>
              </a:lnSpc>
              <a:spcBef>
                <a:spcPct val="0"/>
              </a:spcBef>
            </a:pPr>
            <a:r>
              <a:rPr lang="en-US" b="true" sz="2699" spc="75">
                <a:solidFill>
                  <a:srgbClr val="FFFFFF"/>
                </a:solidFill>
                <a:latin typeface="Codec Pro Bold"/>
                <a:ea typeface="Codec Pro Bold"/>
                <a:cs typeface="Codec Pro Bold"/>
                <a:sym typeface="Codec Pro Bold"/>
              </a:rPr>
              <a:t>Standard errors may be underestimated</a:t>
            </a:r>
          </a:p>
          <a:p>
            <a:pPr algn="l">
              <a:lnSpc>
                <a:spcPts val="3104"/>
              </a:lnSpc>
              <a:spcBef>
                <a:spcPct val="0"/>
              </a:spcBef>
            </a:pPr>
            <a:r>
              <a:rPr lang="en-US" b="true" sz="2699" spc="75">
                <a:solidFill>
                  <a:srgbClr val="FFFFFF"/>
                </a:solidFill>
                <a:latin typeface="Codec Pro Bold"/>
                <a:ea typeface="Codec Pro Bold"/>
                <a:cs typeface="Codec Pro Bold"/>
                <a:sym typeface="Codec Pro Bold"/>
              </a:rPr>
              <a:t>t-statistics may be overstated</a:t>
            </a:r>
          </a:p>
          <a:p>
            <a:pPr algn="l">
              <a:lnSpc>
                <a:spcPts val="3104"/>
              </a:lnSpc>
              <a:spcBef>
                <a:spcPct val="0"/>
              </a:spcBef>
            </a:pPr>
            <a:r>
              <a:rPr lang="en-US" b="true" sz="2699" spc="75">
                <a:solidFill>
                  <a:srgbClr val="FFFFFF"/>
                </a:solidFill>
                <a:latin typeface="Codec Pro Bold"/>
                <a:ea typeface="Codec Pro Bold"/>
                <a:cs typeface="Codec Pro Bold"/>
                <a:sym typeface="Codec Pro Bold"/>
              </a:rPr>
              <a:t>As a result, statistical significance should be </a:t>
            </a:r>
          </a:p>
          <a:p>
            <a:pPr algn="l">
              <a:lnSpc>
                <a:spcPts val="3104"/>
              </a:lnSpc>
              <a:spcBef>
                <a:spcPct val="0"/>
              </a:spcBef>
            </a:pPr>
            <a:r>
              <a:rPr lang="en-US" b="true" sz="2699" spc="75">
                <a:solidFill>
                  <a:srgbClr val="FFFFFF"/>
                </a:solidFill>
                <a:latin typeface="Codec Pro Bold"/>
                <a:ea typeface="Codec Pro Bold"/>
                <a:cs typeface="Codec Pro Bold"/>
                <a:sym typeface="Codec Pro Bold"/>
              </a:rPr>
              <a:t>interpreted with some caution.</a:t>
            </a:r>
          </a:p>
          <a:p>
            <a:pPr algn="l">
              <a:lnSpc>
                <a:spcPts val="3104"/>
              </a:lnSpc>
              <a:spcBef>
                <a:spcPct val="0"/>
              </a:spcBef>
            </a:pPr>
            <a:r>
              <a:rPr lang="en-US" b="true" sz="2699" spc="75">
                <a:solidFill>
                  <a:srgbClr val="FFFFFF"/>
                </a:solidFill>
                <a:latin typeface="Codec Pro Bold"/>
                <a:ea typeface="Codec Pro Bold"/>
                <a:cs typeface="Codec Pro Bold"/>
                <a:sym typeface="Codec Pro Bold"/>
              </a:rPr>
              <a:t>Possible Explanations &amp; Remedies</a:t>
            </a:r>
          </a:p>
          <a:p>
            <a:pPr algn="l">
              <a:lnSpc>
                <a:spcPts val="3104"/>
              </a:lnSpc>
              <a:spcBef>
                <a:spcPct val="0"/>
              </a:spcBef>
            </a:pPr>
            <a:r>
              <a:rPr lang="en-US" b="true" sz="2699" spc="75">
                <a:solidFill>
                  <a:srgbClr val="FFFFFF"/>
                </a:solidFill>
                <a:latin typeface="Codec Pro Bold"/>
                <a:ea typeface="Codec Pro Bold"/>
                <a:cs typeface="Codec Pro Bold"/>
                <a:sym typeface="Codec Pro Bold"/>
              </a:rPr>
              <a:t>Autocorrelation may arise from:</a:t>
            </a:r>
          </a:p>
          <a:p>
            <a:pPr algn="l">
              <a:lnSpc>
                <a:spcPts val="3104"/>
              </a:lnSpc>
              <a:spcBef>
                <a:spcPct val="0"/>
              </a:spcBef>
            </a:pPr>
            <a:r>
              <a:rPr lang="en-US" b="true" sz="2699" spc="75">
                <a:solidFill>
                  <a:srgbClr val="FFFFFF"/>
                </a:solidFill>
                <a:latin typeface="Codec Pro Bold"/>
                <a:ea typeface="Codec Pro Bold"/>
                <a:cs typeface="Codec Pro Bold"/>
                <a:sym typeface="Codec Pro Bold"/>
              </a:rPr>
              <a:t>Spatial dependence across regions</a:t>
            </a:r>
          </a:p>
          <a:p>
            <a:pPr algn="l">
              <a:lnSpc>
                <a:spcPts val="3104"/>
              </a:lnSpc>
              <a:spcBef>
                <a:spcPct val="0"/>
              </a:spcBef>
            </a:pPr>
            <a:r>
              <a:rPr lang="en-US" b="true" sz="2699" spc="75">
                <a:solidFill>
                  <a:srgbClr val="FFFFFF"/>
                </a:solidFill>
                <a:latin typeface="Codec Pro Bold"/>
                <a:ea typeface="Codec Pro Bold"/>
                <a:cs typeface="Codec Pro Bold"/>
                <a:sym typeface="Codec Pro Bold"/>
              </a:rPr>
              <a:t>Omitted regional or temporal factors</a:t>
            </a:r>
          </a:p>
          <a:p>
            <a:pPr algn="l">
              <a:lnSpc>
                <a:spcPts val="3104"/>
              </a:lnSpc>
              <a:spcBef>
                <a:spcPct val="0"/>
              </a:spcBef>
            </a:pPr>
            <a:r>
              <a:rPr lang="en-US" b="true" sz="2699" spc="75">
                <a:solidFill>
                  <a:srgbClr val="FFFFFF"/>
                </a:solidFill>
                <a:latin typeface="Codec Pro Bold"/>
                <a:ea typeface="Codec Pro Bold"/>
                <a:cs typeface="Codec Pro Bold"/>
                <a:sym typeface="Codec Pro Bold"/>
              </a:rPr>
              <a:t>Structural similarities between neighboring regions</a:t>
            </a:r>
          </a:p>
        </p:txBody>
      </p:sp>
      <p:sp>
        <p:nvSpPr>
          <p:cNvPr name="Freeform 8" id="8"/>
          <p:cNvSpPr/>
          <p:nvPr/>
        </p:nvSpPr>
        <p:spPr>
          <a:xfrm flipH="false" flipV="false" rot="0">
            <a:off x="1182405" y="1612700"/>
            <a:ext cx="7881921" cy="2867049"/>
          </a:xfrm>
          <a:custGeom>
            <a:avLst/>
            <a:gdLst/>
            <a:ahLst/>
            <a:cxnLst/>
            <a:rect r="r" b="b" t="t" l="l"/>
            <a:pathLst>
              <a:path h="2867049" w="7881921">
                <a:moveTo>
                  <a:pt x="0" y="0"/>
                </a:moveTo>
                <a:lnTo>
                  <a:pt x="7881921" y="0"/>
                </a:lnTo>
                <a:lnTo>
                  <a:pt x="7881921" y="2867049"/>
                </a:lnTo>
                <a:lnTo>
                  <a:pt x="0" y="2867049"/>
                </a:lnTo>
                <a:lnTo>
                  <a:pt x="0" y="0"/>
                </a:lnTo>
                <a:close/>
              </a:path>
            </a:pathLst>
          </a:custGeom>
          <a:blipFill>
            <a:blip r:embed="rId7"/>
            <a:stretch>
              <a:fillRect l="0" t="0" r="0" b="0"/>
            </a:stretch>
          </a:blipFill>
        </p:spPr>
      </p:sp>
      <p:sp>
        <p:nvSpPr>
          <p:cNvPr name="TextBox 9" id="9"/>
          <p:cNvSpPr txBox="true"/>
          <p:nvPr/>
        </p:nvSpPr>
        <p:spPr>
          <a:xfrm rot="0">
            <a:off x="0" y="415339"/>
            <a:ext cx="18073570" cy="1160047"/>
          </a:xfrm>
          <a:prstGeom prst="rect">
            <a:avLst/>
          </a:prstGeom>
        </p:spPr>
        <p:txBody>
          <a:bodyPr anchor="t" rtlCol="false" tIns="0" lIns="0" bIns="0" rIns="0">
            <a:spAutoFit/>
          </a:bodyPr>
          <a:lstStyle/>
          <a:p>
            <a:pPr algn="ctr">
              <a:lnSpc>
                <a:spcPts val="8262"/>
              </a:lnSpc>
              <a:spcBef>
                <a:spcPct val="0"/>
              </a:spcBef>
            </a:pPr>
            <a:r>
              <a:rPr lang="en-US" b="true" sz="7184" spc="201">
                <a:solidFill>
                  <a:srgbClr val="FFFFFF"/>
                </a:solidFill>
                <a:latin typeface="Codec Pro Bold"/>
                <a:ea typeface="Codec Pro Bold"/>
                <a:cs typeface="Codec Pro Bold"/>
                <a:sym typeface="Codec Pro Bold"/>
              </a:rPr>
              <a:t>Linear regression model 1 assumptions</a:t>
            </a:r>
          </a:p>
        </p:txBody>
      </p:sp>
      <p:sp>
        <p:nvSpPr>
          <p:cNvPr name="Freeform 10" id="10"/>
          <p:cNvSpPr/>
          <p:nvPr/>
        </p:nvSpPr>
        <p:spPr>
          <a:xfrm flipH="false" flipV="false" rot="0">
            <a:off x="11002716" y="5466038"/>
            <a:ext cx="5553464" cy="4657968"/>
          </a:xfrm>
          <a:custGeom>
            <a:avLst/>
            <a:gdLst/>
            <a:ahLst/>
            <a:cxnLst/>
            <a:rect r="r" b="b" t="t" l="l"/>
            <a:pathLst>
              <a:path h="4657968" w="5553464">
                <a:moveTo>
                  <a:pt x="0" y="0"/>
                </a:moveTo>
                <a:lnTo>
                  <a:pt x="5553464" y="0"/>
                </a:lnTo>
                <a:lnTo>
                  <a:pt x="5553464" y="4657968"/>
                </a:lnTo>
                <a:lnTo>
                  <a:pt x="0" y="4657968"/>
                </a:lnTo>
                <a:lnTo>
                  <a:pt x="0" y="0"/>
                </a:lnTo>
                <a:close/>
              </a:path>
            </a:pathLst>
          </a:custGeom>
          <a:blipFill>
            <a:blip r:embed="rId8"/>
            <a:stretch>
              <a:fillRect l="0" t="0" r="0" b="0"/>
            </a:stretch>
          </a:blipFill>
        </p:spPr>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sp>
        <p:nvSpPr>
          <p:cNvPr name="Freeform 3" id="3"/>
          <p:cNvSpPr/>
          <p:nvPr/>
        </p:nvSpPr>
        <p:spPr>
          <a:xfrm flipH="false" flipV="false" rot="6303208">
            <a:off x="11117592" y="7199541"/>
            <a:ext cx="8170649" cy="8170649"/>
          </a:xfrm>
          <a:custGeom>
            <a:avLst/>
            <a:gdLst/>
            <a:ahLst/>
            <a:cxnLst/>
            <a:rect r="r" b="b" t="t" l="l"/>
            <a:pathLst>
              <a:path h="8170649" w="8170649">
                <a:moveTo>
                  <a:pt x="0" y="0"/>
                </a:moveTo>
                <a:lnTo>
                  <a:pt x="8170649" y="0"/>
                </a:lnTo>
                <a:lnTo>
                  <a:pt x="8170649" y="8170649"/>
                </a:lnTo>
                <a:lnTo>
                  <a:pt x="0" y="817064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376496">
            <a:off x="8037943" y="7174153"/>
            <a:ext cx="2052766" cy="2052766"/>
          </a:xfrm>
          <a:custGeom>
            <a:avLst/>
            <a:gdLst/>
            <a:ahLst/>
            <a:cxnLst/>
            <a:rect r="r" b="b" t="t" l="l"/>
            <a:pathLst>
              <a:path h="2052766" w="2052766">
                <a:moveTo>
                  <a:pt x="0" y="0"/>
                </a:moveTo>
                <a:lnTo>
                  <a:pt x="2052766" y="0"/>
                </a:lnTo>
                <a:lnTo>
                  <a:pt x="2052766" y="2052766"/>
                </a:lnTo>
                <a:lnTo>
                  <a:pt x="0" y="205276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6303208">
            <a:off x="14359247" y="2250803"/>
            <a:ext cx="1194157" cy="1194157"/>
          </a:xfrm>
          <a:custGeom>
            <a:avLst/>
            <a:gdLst/>
            <a:ahLst/>
            <a:cxnLst/>
            <a:rect r="r" b="b" t="t" l="l"/>
            <a:pathLst>
              <a:path h="1194157" w="1194157">
                <a:moveTo>
                  <a:pt x="0" y="0"/>
                </a:moveTo>
                <a:lnTo>
                  <a:pt x="1194157" y="0"/>
                </a:lnTo>
                <a:lnTo>
                  <a:pt x="1194157" y="1194158"/>
                </a:lnTo>
                <a:lnTo>
                  <a:pt x="0" y="119415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6303208">
            <a:off x="-1399208" y="-1787553"/>
            <a:ext cx="5632506" cy="5632506"/>
          </a:xfrm>
          <a:custGeom>
            <a:avLst/>
            <a:gdLst/>
            <a:ahLst/>
            <a:cxnLst/>
            <a:rect r="r" b="b" t="t" l="l"/>
            <a:pathLst>
              <a:path h="5632506" w="5632506">
                <a:moveTo>
                  <a:pt x="0" y="0"/>
                </a:moveTo>
                <a:lnTo>
                  <a:pt x="5632507" y="0"/>
                </a:lnTo>
                <a:lnTo>
                  <a:pt x="5632507" y="5632506"/>
                </a:lnTo>
                <a:lnTo>
                  <a:pt x="0" y="563250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0">
            <a:off x="571819" y="2093663"/>
            <a:ext cx="7360090" cy="6099674"/>
          </a:xfrm>
          <a:custGeom>
            <a:avLst/>
            <a:gdLst/>
            <a:ahLst/>
            <a:cxnLst/>
            <a:rect r="r" b="b" t="t" l="l"/>
            <a:pathLst>
              <a:path h="6099674" w="7360090">
                <a:moveTo>
                  <a:pt x="0" y="0"/>
                </a:moveTo>
                <a:lnTo>
                  <a:pt x="7360090" y="0"/>
                </a:lnTo>
                <a:lnTo>
                  <a:pt x="7360090" y="6099674"/>
                </a:lnTo>
                <a:lnTo>
                  <a:pt x="0" y="6099674"/>
                </a:lnTo>
                <a:lnTo>
                  <a:pt x="0" y="0"/>
                </a:lnTo>
                <a:close/>
              </a:path>
            </a:pathLst>
          </a:custGeom>
          <a:blipFill>
            <a:blip r:embed="rId7"/>
            <a:stretch>
              <a:fillRect l="0" t="0" r="0" b="0"/>
            </a:stretch>
          </a:blipFill>
        </p:spPr>
      </p:sp>
      <p:sp>
        <p:nvSpPr>
          <p:cNvPr name="TextBox 8" id="8"/>
          <p:cNvSpPr txBox="true"/>
          <p:nvPr/>
        </p:nvSpPr>
        <p:spPr>
          <a:xfrm rot="0">
            <a:off x="0" y="415339"/>
            <a:ext cx="18288000" cy="1160047"/>
          </a:xfrm>
          <a:prstGeom prst="rect">
            <a:avLst/>
          </a:prstGeom>
        </p:spPr>
        <p:txBody>
          <a:bodyPr anchor="t" rtlCol="false" tIns="0" lIns="0" bIns="0" rIns="0">
            <a:spAutoFit/>
          </a:bodyPr>
          <a:lstStyle/>
          <a:p>
            <a:pPr algn="ctr">
              <a:lnSpc>
                <a:spcPts val="8262"/>
              </a:lnSpc>
              <a:spcBef>
                <a:spcPct val="0"/>
              </a:spcBef>
            </a:pPr>
            <a:r>
              <a:rPr lang="en-US" b="true" sz="7184" spc="201">
                <a:solidFill>
                  <a:srgbClr val="FFFFFF"/>
                </a:solidFill>
                <a:latin typeface="Codec Pro Bold"/>
                <a:ea typeface="Codec Pro Bold"/>
                <a:cs typeface="Codec Pro Bold"/>
                <a:sym typeface="Codec Pro Bold"/>
              </a:rPr>
              <a:t>Linear regression model 2 assumptions</a:t>
            </a:r>
          </a:p>
        </p:txBody>
      </p:sp>
      <p:sp>
        <p:nvSpPr>
          <p:cNvPr name="Freeform 9" id="9"/>
          <p:cNvSpPr/>
          <p:nvPr/>
        </p:nvSpPr>
        <p:spPr>
          <a:xfrm flipH="false" flipV="false" rot="376496">
            <a:off x="8190343" y="7326553"/>
            <a:ext cx="2052766" cy="2052766"/>
          </a:xfrm>
          <a:custGeom>
            <a:avLst/>
            <a:gdLst/>
            <a:ahLst/>
            <a:cxnLst/>
            <a:rect r="r" b="b" t="t" l="l"/>
            <a:pathLst>
              <a:path h="2052766" w="2052766">
                <a:moveTo>
                  <a:pt x="0" y="0"/>
                </a:moveTo>
                <a:lnTo>
                  <a:pt x="2052766" y="0"/>
                </a:lnTo>
                <a:lnTo>
                  <a:pt x="2052766" y="2052766"/>
                </a:lnTo>
                <a:lnTo>
                  <a:pt x="0" y="205276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0" id="10"/>
          <p:cNvSpPr/>
          <p:nvPr/>
        </p:nvSpPr>
        <p:spPr>
          <a:xfrm flipH="false" flipV="false" rot="6303208">
            <a:off x="14511647" y="2403203"/>
            <a:ext cx="1194157" cy="1194157"/>
          </a:xfrm>
          <a:custGeom>
            <a:avLst/>
            <a:gdLst/>
            <a:ahLst/>
            <a:cxnLst/>
            <a:rect r="r" b="b" t="t" l="l"/>
            <a:pathLst>
              <a:path h="1194157" w="1194157">
                <a:moveTo>
                  <a:pt x="0" y="0"/>
                </a:moveTo>
                <a:lnTo>
                  <a:pt x="1194157" y="0"/>
                </a:lnTo>
                <a:lnTo>
                  <a:pt x="1194157" y="1194158"/>
                </a:lnTo>
                <a:lnTo>
                  <a:pt x="0" y="119415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1" id="11"/>
          <p:cNvSpPr txBox="true"/>
          <p:nvPr/>
        </p:nvSpPr>
        <p:spPr>
          <a:xfrm rot="0">
            <a:off x="8625923" y="2230519"/>
            <a:ext cx="6761500" cy="495300"/>
          </a:xfrm>
          <a:prstGeom prst="rect">
            <a:avLst/>
          </a:prstGeom>
        </p:spPr>
        <p:txBody>
          <a:bodyPr anchor="t" rtlCol="false" tIns="0" lIns="0" bIns="0" rIns="0">
            <a:spAutoFit/>
          </a:bodyPr>
          <a:lstStyle/>
          <a:p>
            <a:pPr algn="ctr">
              <a:lnSpc>
                <a:spcPts val="3450"/>
              </a:lnSpc>
              <a:spcBef>
                <a:spcPct val="0"/>
              </a:spcBef>
            </a:pPr>
            <a:r>
              <a:rPr lang="en-US" b="true" sz="3000" spc="84">
                <a:solidFill>
                  <a:srgbClr val="FFFFFF"/>
                </a:solidFill>
                <a:latin typeface="Codec Pro Bold"/>
                <a:ea typeface="Codec Pro Bold"/>
                <a:cs typeface="Codec Pro Bold"/>
                <a:sym typeface="Codec Pro Bold"/>
              </a:rPr>
              <a:t>✔ Collinearity assumption satisfied</a:t>
            </a:r>
          </a:p>
        </p:txBody>
      </p:sp>
      <p:sp>
        <p:nvSpPr>
          <p:cNvPr name="TextBox 12" id="12"/>
          <p:cNvSpPr txBox="true"/>
          <p:nvPr/>
        </p:nvSpPr>
        <p:spPr>
          <a:xfrm rot="0">
            <a:off x="8795268" y="5029200"/>
            <a:ext cx="6383562" cy="487846"/>
          </a:xfrm>
          <a:prstGeom prst="rect">
            <a:avLst/>
          </a:prstGeom>
        </p:spPr>
        <p:txBody>
          <a:bodyPr anchor="t" rtlCol="false" tIns="0" lIns="0" bIns="0" rIns="0">
            <a:spAutoFit/>
          </a:bodyPr>
          <a:lstStyle/>
          <a:p>
            <a:pPr algn="ctr">
              <a:lnSpc>
                <a:spcPts val="3450"/>
              </a:lnSpc>
              <a:spcBef>
                <a:spcPct val="0"/>
              </a:spcBef>
            </a:pPr>
            <a:r>
              <a:rPr lang="en-US" b="true" sz="3000" spc="84">
                <a:solidFill>
                  <a:srgbClr val="FFFFFF"/>
                </a:solidFill>
                <a:latin typeface="Codec Pro Bold"/>
                <a:ea typeface="Codec Pro Bold"/>
                <a:cs typeface="Codec Pro Bold"/>
                <a:sym typeface="Codec Pro Bold"/>
              </a:rPr>
              <a:t>✔ Normality assumption rejected</a:t>
            </a:r>
          </a:p>
        </p:txBody>
      </p:sp>
      <p:sp>
        <p:nvSpPr>
          <p:cNvPr name="TextBox 13" id="13"/>
          <p:cNvSpPr txBox="true"/>
          <p:nvPr/>
        </p:nvSpPr>
        <p:spPr>
          <a:xfrm rot="0">
            <a:off x="8976429" y="2900375"/>
            <a:ext cx="9463971" cy="1469059"/>
          </a:xfrm>
          <a:prstGeom prst="rect">
            <a:avLst/>
          </a:prstGeom>
        </p:spPr>
        <p:txBody>
          <a:bodyPr anchor="t" rtlCol="false" tIns="0" lIns="0" bIns="0" rIns="0">
            <a:spAutoFit/>
          </a:bodyPr>
          <a:lstStyle/>
          <a:p>
            <a:pPr algn="ctr">
              <a:lnSpc>
                <a:spcPts val="2874"/>
              </a:lnSpc>
              <a:spcBef>
                <a:spcPct val="0"/>
              </a:spcBef>
            </a:pPr>
            <a:r>
              <a:rPr lang="en-US" b="true" sz="2499" spc="69">
                <a:solidFill>
                  <a:srgbClr val="FFFFFF"/>
                </a:solidFill>
                <a:latin typeface="Codec Pro Bold"/>
                <a:ea typeface="Codec Pro Bold"/>
                <a:cs typeface="Codec Pro Bold"/>
                <a:sym typeface="Codec Pro Bold"/>
              </a:rPr>
              <a:t>All VIF values are well below 5 (ranging from 1.06 to 1.92).</a:t>
            </a:r>
          </a:p>
          <a:p>
            <a:pPr algn="ctr">
              <a:lnSpc>
                <a:spcPts val="2874"/>
              </a:lnSpc>
              <a:spcBef>
                <a:spcPct val="0"/>
              </a:spcBef>
            </a:pPr>
            <a:r>
              <a:rPr lang="en-US" b="true" sz="2499" spc="69">
                <a:solidFill>
                  <a:srgbClr val="FFFFFF"/>
                </a:solidFill>
                <a:latin typeface="Codec Pro Bold"/>
                <a:ea typeface="Codec Pro Bold"/>
                <a:cs typeface="Codec Pro Bold"/>
                <a:sym typeface="Codec Pro Bold"/>
              </a:rPr>
              <a:t>This indicates no serious multicollinearity among regressors.</a:t>
            </a:r>
          </a:p>
          <a:p>
            <a:pPr algn="ctr">
              <a:lnSpc>
                <a:spcPts val="2874"/>
              </a:lnSpc>
              <a:spcBef>
                <a:spcPct val="0"/>
              </a:spcBef>
            </a:pPr>
            <a:r>
              <a:rPr lang="en-US" b="true" sz="2499" spc="69">
                <a:solidFill>
                  <a:srgbClr val="FFFFFF"/>
                </a:solidFill>
                <a:latin typeface="Codec Pro Bold"/>
                <a:ea typeface="Codec Pro Bold"/>
                <a:cs typeface="Codec Pro Bold"/>
                <a:sym typeface="Codec Pro Bold"/>
              </a:rPr>
              <a:t>Coefficient estimates are stable and reliable.</a:t>
            </a:r>
          </a:p>
        </p:txBody>
      </p:sp>
      <p:sp>
        <p:nvSpPr>
          <p:cNvPr name="TextBox 14" id="14"/>
          <p:cNvSpPr txBox="true"/>
          <p:nvPr/>
        </p:nvSpPr>
        <p:spPr>
          <a:xfrm rot="0">
            <a:off x="9710962" y="5565213"/>
            <a:ext cx="8402808" cy="2181363"/>
          </a:xfrm>
          <a:prstGeom prst="rect">
            <a:avLst/>
          </a:prstGeom>
        </p:spPr>
        <p:txBody>
          <a:bodyPr anchor="t" rtlCol="false" tIns="0" lIns="0" bIns="0" rIns="0">
            <a:spAutoFit/>
          </a:bodyPr>
          <a:lstStyle/>
          <a:p>
            <a:pPr algn="ctr">
              <a:lnSpc>
                <a:spcPts val="2874"/>
              </a:lnSpc>
              <a:spcBef>
                <a:spcPct val="0"/>
              </a:spcBef>
            </a:pPr>
            <a:r>
              <a:rPr lang="en-US" b="true" sz="2499" spc="69">
                <a:solidFill>
                  <a:srgbClr val="FFFFFF"/>
                </a:solidFill>
                <a:latin typeface="Codec Pro Bold"/>
                <a:ea typeface="Codec Pro Bold"/>
                <a:cs typeface="Codec Pro Bold"/>
                <a:sym typeface="Codec Pro Bold"/>
              </a:rPr>
              <a:t>The null hypothesis of normally distributed residuals is rejected at the 5% significance level</a:t>
            </a:r>
          </a:p>
          <a:p>
            <a:pPr algn="ctr">
              <a:lnSpc>
                <a:spcPts val="2874"/>
              </a:lnSpc>
              <a:spcBef>
                <a:spcPct val="0"/>
              </a:spcBef>
            </a:pPr>
            <a:r>
              <a:rPr lang="en-US" b="true" sz="2499" spc="69">
                <a:solidFill>
                  <a:srgbClr val="FFFFFF"/>
                </a:solidFill>
                <a:latin typeface="Codec Pro Bold"/>
                <a:ea typeface="Codec Pro Bold"/>
                <a:cs typeface="Codec Pro Bold"/>
                <a:sym typeface="Codec Pro Bold"/>
              </a:rPr>
              <a:t>Residuals are approximately normal.</a:t>
            </a:r>
          </a:p>
          <a:p>
            <a:pPr algn="ctr">
              <a:lnSpc>
                <a:spcPts val="2874"/>
              </a:lnSpc>
              <a:spcBef>
                <a:spcPct val="0"/>
              </a:spcBef>
            </a:pPr>
            <a:r>
              <a:rPr lang="en-US" b="true" sz="2499" spc="69">
                <a:solidFill>
                  <a:srgbClr val="FFFFFF"/>
                </a:solidFill>
                <a:latin typeface="Codec Pro Bold"/>
                <a:ea typeface="Codec Pro Bold"/>
                <a:cs typeface="Codec Pro Bold"/>
                <a:sym typeface="Codec Pro Bold"/>
              </a:rPr>
              <a:t>→ The residuals deviate significantly from a normal distribution. While OLS estimators remain unbiased, standard inference may be less reliable.</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1605" t="0" r="-1605" b="0"/>
            </a:stretch>
          </a:blipFill>
        </p:spPr>
      </p:sp>
      <p:sp>
        <p:nvSpPr>
          <p:cNvPr name="Freeform 3" id="3"/>
          <p:cNvSpPr/>
          <p:nvPr/>
        </p:nvSpPr>
        <p:spPr>
          <a:xfrm flipH="false" flipV="false" rot="6303208">
            <a:off x="11117592" y="7199541"/>
            <a:ext cx="8170649" cy="8170649"/>
          </a:xfrm>
          <a:custGeom>
            <a:avLst/>
            <a:gdLst/>
            <a:ahLst/>
            <a:cxnLst/>
            <a:rect r="r" b="b" t="t" l="l"/>
            <a:pathLst>
              <a:path h="8170649" w="8170649">
                <a:moveTo>
                  <a:pt x="0" y="0"/>
                </a:moveTo>
                <a:lnTo>
                  <a:pt x="8170649" y="0"/>
                </a:lnTo>
                <a:lnTo>
                  <a:pt x="8170649" y="8170649"/>
                </a:lnTo>
                <a:lnTo>
                  <a:pt x="0" y="817064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376496">
            <a:off x="8037943" y="7174153"/>
            <a:ext cx="2052766" cy="2052766"/>
          </a:xfrm>
          <a:custGeom>
            <a:avLst/>
            <a:gdLst/>
            <a:ahLst/>
            <a:cxnLst/>
            <a:rect r="r" b="b" t="t" l="l"/>
            <a:pathLst>
              <a:path h="2052766" w="2052766">
                <a:moveTo>
                  <a:pt x="0" y="0"/>
                </a:moveTo>
                <a:lnTo>
                  <a:pt x="2052766" y="0"/>
                </a:lnTo>
                <a:lnTo>
                  <a:pt x="2052766" y="2052766"/>
                </a:lnTo>
                <a:lnTo>
                  <a:pt x="0" y="205276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6303208">
            <a:off x="14359247" y="2250803"/>
            <a:ext cx="1194157" cy="1194157"/>
          </a:xfrm>
          <a:custGeom>
            <a:avLst/>
            <a:gdLst/>
            <a:ahLst/>
            <a:cxnLst/>
            <a:rect r="r" b="b" t="t" l="l"/>
            <a:pathLst>
              <a:path h="1194157" w="1194157">
                <a:moveTo>
                  <a:pt x="0" y="0"/>
                </a:moveTo>
                <a:lnTo>
                  <a:pt x="1194157" y="0"/>
                </a:lnTo>
                <a:lnTo>
                  <a:pt x="1194157" y="1194158"/>
                </a:lnTo>
                <a:lnTo>
                  <a:pt x="0" y="119415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6303208">
            <a:off x="-1399208" y="-1787553"/>
            <a:ext cx="5632506" cy="5632506"/>
          </a:xfrm>
          <a:custGeom>
            <a:avLst/>
            <a:gdLst/>
            <a:ahLst/>
            <a:cxnLst/>
            <a:rect r="r" b="b" t="t" l="l"/>
            <a:pathLst>
              <a:path h="5632506" w="5632506">
                <a:moveTo>
                  <a:pt x="0" y="0"/>
                </a:moveTo>
                <a:lnTo>
                  <a:pt x="5632507" y="0"/>
                </a:lnTo>
                <a:lnTo>
                  <a:pt x="5632507" y="5632506"/>
                </a:lnTo>
                <a:lnTo>
                  <a:pt x="0" y="563250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0">
            <a:off x="470129" y="2160271"/>
            <a:ext cx="7981883" cy="5966458"/>
          </a:xfrm>
          <a:custGeom>
            <a:avLst/>
            <a:gdLst/>
            <a:ahLst/>
            <a:cxnLst/>
            <a:rect r="r" b="b" t="t" l="l"/>
            <a:pathLst>
              <a:path h="5966458" w="7981883">
                <a:moveTo>
                  <a:pt x="0" y="0"/>
                </a:moveTo>
                <a:lnTo>
                  <a:pt x="7981883" y="0"/>
                </a:lnTo>
                <a:lnTo>
                  <a:pt x="7981883" y="5966458"/>
                </a:lnTo>
                <a:lnTo>
                  <a:pt x="0" y="5966458"/>
                </a:lnTo>
                <a:lnTo>
                  <a:pt x="0" y="0"/>
                </a:lnTo>
                <a:close/>
              </a:path>
            </a:pathLst>
          </a:custGeom>
          <a:blipFill>
            <a:blip r:embed="rId7"/>
            <a:stretch>
              <a:fillRect l="0" t="0" r="0" b="0"/>
            </a:stretch>
          </a:blipFill>
        </p:spPr>
      </p:sp>
      <p:sp>
        <p:nvSpPr>
          <p:cNvPr name="TextBox 8" id="8"/>
          <p:cNvSpPr txBox="true"/>
          <p:nvPr/>
        </p:nvSpPr>
        <p:spPr>
          <a:xfrm rot="0">
            <a:off x="0" y="415339"/>
            <a:ext cx="18503837" cy="1160047"/>
          </a:xfrm>
          <a:prstGeom prst="rect">
            <a:avLst/>
          </a:prstGeom>
        </p:spPr>
        <p:txBody>
          <a:bodyPr anchor="t" rtlCol="false" tIns="0" lIns="0" bIns="0" rIns="0">
            <a:spAutoFit/>
          </a:bodyPr>
          <a:lstStyle/>
          <a:p>
            <a:pPr algn="ctr">
              <a:lnSpc>
                <a:spcPts val="8262"/>
              </a:lnSpc>
              <a:spcBef>
                <a:spcPct val="0"/>
              </a:spcBef>
            </a:pPr>
            <a:r>
              <a:rPr lang="en-US" b="true" sz="7184" spc="201">
                <a:solidFill>
                  <a:srgbClr val="FFFFFF"/>
                </a:solidFill>
                <a:latin typeface="Codec Pro Bold"/>
                <a:ea typeface="Codec Pro Bold"/>
                <a:cs typeface="Codec Pro Bold"/>
                <a:sym typeface="Codec Pro Bold"/>
              </a:rPr>
              <a:t>Linear regression model 2 assumptions</a:t>
            </a:r>
          </a:p>
        </p:txBody>
      </p:sp>
      <p:sp>
        <p:nvSpPr>
          <p:cNvPr name="TextBox 9" id="9"/>
          <p:cNvSpPr txBox="true"/>
          <p:nvPr/>
        </p:nvSpPr>
        <p:spPr>
          <a:xfrm rot="0">
            <a:off x="9236157" y="2998075"/>
            <a:ext cx="9051843" cy="1825211"/>
          </a:xfrm>
          <a:prstGeom prst="rect">
            <a:avLst/>
          </a:prstGeom>
        </p:spPr>
        <p:txBody>
          <a:bodyPr anchor="t" rtlCol="false" tIns="0" lIns="0" bIns="0" rIns="0">
            <a:spAutoFit/>
          </a:bodyPr>
          <a:lstStyle/>
          <a:p>
            <a:pPr algn="ctr">
              <a:lnSpc>
                <a:spcPts val="2874"/>
              </a:lnSpc>
              <a:spcBef>
                <a:spcPct val="0"/>
              </a:spcBef>
            </a:pPr>
            <a:r>
              <a:rPr lang="en-US" b="true" sz="2499" spc="69">
                <a:solidFill>
                  <a:srgbClr val="FFFFFF"/>
                </a:solidFill>
                <a:latin typeface="Codec Pro Bold"/>
                <a:ea typeface="Codec Pro Bold"/>
                <a:cs typeface="Codec Pro Bold"/>
                <a:sym typeface="Codec Pro Bold"/>
              </a:rPr>
              <a:t>The null hypothesis of constant error variance cannot be rejected at the 5% level.</a:t>
            </a:r>
          </a:p>
          <a:p>
            <a:pPr algn="ctr">
              <a:lnSpc>
                <a:spcPts val="2874"/>
              </a:lnSpc>
              <a:spcBef>
                <a:spcPct val="0"/>
              </a:spcBef>
            </a:pPr>
            <a:r>
              <a:rPr lang="en-US" b="true" sz="2499" spc="69">
                <a:solidFill>
                  <a:srgbClr val="FFFFFF"/>
                </a:solidFill>
                <a:latin typeface="Codec Pro Bold"/>
                <a:ea typeface="Codec Pro Bold"/>
                <a:cs typeface="Codec Pro Bold"/>
                <a:sym typeface="Codec Pro Bold"/>
              </a:rPr>
              <a:t>Unlike model A, there is no evidence of heteteroscedasticity in this model. The variance of error terms appears constant across observations</a:t>
            </a:r>
          </a:p>
        </p:txBody>
      </p:sp>
      <p:sp>
        <p:nvSpPr>
          <p:cNvPr name="TextBox 10" id="10"/>
          <p:cNvSpPr txBox="true"/>
          <p:nvPr/>
        </p:nvSpPr>
        <p:spPr>
          <a:xfrm rot="0">
            <a:off x="5890212" y="2112646"/>
            <a:ext cx="15051444" cy="480170"/>
          </a:xfrm>
          <a:prstGeom prst="rect">
            <a:avLst/>
          </a:prstGeom>
        </p:spPr>
        <p:txBody>
          <a:bodyPr anchor="t" rtlCol="false" tIns="0" lIns="0" bIns="0" rIns="0">
            <a:spAutoFit/>
          </a:bodyPr>
          <a:lstStyle/>
          <a:p>
            <a:pPr algn="ctr">
              <a:lnSpc>
                <a:spcPts val="3335"/>
              </a:lnSpc>
              <a:spcBef>
                <a:spcPct val="0"/>
              </a:spcBef>
            </a:pPr>
            <a:r>
              <a:rPr lang="en-US" b="true" sz="2900" spc="81">
                <a:solidFill>
                  <a:srgbClr val="FFFFFF"/>
                </a:solidFill>
                <a:latin typeface="Codec Pro Bold"/>
                <a:ea typeface="Codec Pro Bold"/>
                <a:cs typeface="Codec Pro Bold"/>
                <a:sym typeface="Codec Pro Bold"/>
              </a:rPr>
              <a:t>✔ Homoscedasticity assumption broadly satisfied</a:t>
            </a:r>
          </a:p>
        </p:txBody>
      </p:sp>
      <p:sp>
        <p:nvSpPr>
          <p:cNvPr name="Freeform 11" id="11"/>
          <p:cNvSpPr/>
          <p:nvPr/>
        </p:nvSpPr>
        <p:spPr>
          <a:xfrm flipH="false" flipV="false" rot="6303208">
            <a:off x="14359247" y="5849169"/>
            <a:ext cx="1194157" cy="1194157"/>
          </a:xfrm>
          <a:custGeom>
            <a:avLst/>
            <a:gdLst/>
            <a:ahLst/>
            <a:cxnLst/>
            <a:rect r="r" b="b" t="t" l="l"/>
            <a:pathLst>
              <a:path h="1194157" w="1194157">
                <a:moveTo>
                  <a:pt x="0" y="0"/>
                </a:moveTo>
                <a:lnTo>
                  <a:pt x="1194157" y="0"/>
                </a:lnTo>
                <a:lnTo>
                  <a:pt x="1194157" y="1194158"/>
                </a:lnTo>
                <a:lnTo>
                  <a:pt x="0" y="119415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2" id="12"/>
          <p:cNvSpPr txBox="true"/>
          <p:nvPr/>
        </p:nvSpPr>
        <p:spPr>
          <a:xfrm rot="0">
            <a:off x="9236157" y="5686010"/>
            <a:ext cx="9051843" cy="1825211"/>
          </a:xfrm>
          <a:prstGeom prst="rect">
            <a:avLst/>
          </a:prstGeom>
        </p:spPr>
        <p:txBody>
          <a:bodyPr anchor="t" rtlCol="false" tIns="0" lIns="0" bIns="0" rIns="0">
            <a:spAutoFit/>
          </a:bodyPr>
          <a:lstStyle/>
          <a:p>
            <a:pPr algn="ctr">
              <a:lnSpc>
                <a:spcPts val="2874"/>
              </a:lnSpc>
            </a:pPr>
            <a:r>
              <a:rPr lang="en-US" b="true" sz="2499" spc="69">
                <a:solidFill>
                  <a:srgbClr val="FFFFFF"/>
                </a:solidFill>
                <a:latin typeface="Codec Pro Bold"/>
                <a:ea typeface="Codec Pro Bold"/>
                <a:cs typeface="Codec Pro Bold"/>
                <a:sym typeface="Codec Pro Bold"/>
              </a:rPr>
              <a:t>The Durbin-Watson statistic is substantially bellow 2 (and lower than model A). The value of 0.94 indicates strong positive autocorrelation in the residuals.</a:t>
            </a:r>
          </a:p>
          <a:p>
            <a:pPr algn="ctr">
              <a:lnSpc>
                <a:spcPts val="2874"/>
              </a:lnSpc>
              <a:spcBef>
                <a:spcPct val="0"/>
              </a:spcBef>
            </a:pPr>
            <a:r>
              <a:rPr lang="en-US" b="true" sz="2499" spc="69">
                <a:solidFill>
                  <a:srgbClr val="FFFFFF"/>
                </a:solidFill>
                <a:latin typeface="Codec Pro Bold"/>
                <a:ea typeface="Codec Pro Bold"/>
                <a:cs typeface="Codec Pro Bold"/>
                <a:sym typeface="Codec Pro Bold"/>
              </a:rPr>
              <a:t>The very small p-vvalue leads to a definitive rejection of the null hypothesis of no autocorrelation.</a:t>
            </a:r>
          </a:p>
        </p:txBody>
      </p:sp>
      <p:sp>
        <p:nvSpPr>
          <p:cNvPr name="TextBox 13" id="13"/>
          <p:cNvSpPr txBox="true"/>
          <p:nvPr/>
        </p:nvSpPr>
        <p:spPr>
          <a:xfrm rot="0">
            <a:off x="5890212" y="5213811"/>
            <a:ext cx="15051444" cy="480170"/>
          </a:xfrm>
          <a:prstGeom prst="rect">
            <a:avLst/>
          </a:prstGeom>
        </p:spPr>
        <p:txBody>
          <a:bodyPr anchor="t" rtlCol="false" tIns="0" lIns="0" bIns="0" rIns="0">
            <a:spAutoFit/>
          </a:bodyPr>
          <a:lstStyle/>
          <a:p>
            <a:pPr algn="ctr">
              <a:lnSpc>
                <a:spcPts val="3335"/>
              </a:lnSpc>
              <a:spcBef>
                <a:spcPct val="0"/>
              </a:spcBef>
            </a:pPr>
            <a:r>
              <a:rPr lang="en-US" b="true" sz="2900" spc="81">
                <a:solidFill>
                  <a:srgbClr val="FFFFFF"/>
                </a:solidFill>
                <a:latin typeface="Codec Pro Bold"/>
                <a:ea typeface="Codec Pro Bold"/>
                <a:cs typeface="Codec Pro Bold"/>
                <a:sym typeface="Codec Pro Bold"/>
              </a:rPr>
              <a:t>Autocorrelation</a:t>
            </a:r>
          </a:p>
        </p:txBody>
      </p:sp>
      <p:sp>
        <p:nvSpPr>
          <p:cNvPr name="TextBox 14" id="14"/>
          <p:cNvSpPr txBox="true"/>
          <p:nvPr/>
        </p:nvSpPr>
        <p:spPr>
          <a:xfrm rot="0">
            <a:off x="6236356" y="8054146"/>
            <a:ext cx="15051444" cy="480170"/>
          </a:xfrm>
          <a:prstGeom prst="rect">
            <a:avLst/>
          </a:prstGeom>
        </p:spPr>
        <p:txBody>
          <a:bodyPr anchor="t" rtlCol="false" tIns="0" lIns="0" bIns="0" rIns="0">
            <a:spAutoFit/>
          </a:bodyPr>
          <a:lstStyle/>
          <a:p>
            <a:pPr algn="ctr">
              <a:lnSpc>
                <a:spcPts val="3335"/>
              </a:lnSpc>
              <a:spcBef>
                <a:spcPct val="0"/>
              </a:spcBef>
            </a:pPr>
            <a:r>
              <a:rPr lang="en-US" b="true" sz="2900" spc="81">
                <a:solidFill>
                  <a:srgbClr val="FFFFFF"/>
                </a:solidFill>
                <a:latin typeface="Codec Pro Bold"/>
                <a:ea typeface="Codec Pro Bold"/>
                <a:cs typeface="Codec Pro Bold"/>
                <a:sym typeface="Codec Pro Bold"/>
              </a:rPr>
              <a:t>✔ Implications of Model B</a:t>
            </a:r>
          </a:p>
        </p:txBody>
      </p:sp>
      <p:sp>
        <p:nvSpPr>
          <p:cNvPr name="TextBox 15" id="15"/>
          <p:cNvSpPr txBox="true"/>
          <p:nvPr/>
        </p:nvSpPr>
        <p:spPr>
          <a:xfrm rot="0">
            <a:off x="9251919" y="8505742"/>
            <a:ext cx="9051843" cy="1469059"/>
          </a:xfrm>
          <a:prstGeom prst="rect">
            <a:avLst/>
          </a:prstGeom>
        </p:spPr>
        <p:txBody>
          <a:bodyPr anchor="t" rtlCol="false" tIns="0" lIns="0" bIns="0" rIns="0">
            <a:spAutoFit/>
          </a:bodyPr>
          <a:lstStyle/>
          <a:p>
            <a:pPr algn="ctr">
              <a:lnSpc>
                <a:spcPts val="2874"/>
              </a:lnSpc>
              <a:spcBef>
                <a:spcPct val="0"/>
              </a:spcBef>
            </a:pPr>
            <a:r>
              <a:rPr lang="en-US" b="true" sz="2499" spc="69">
                <a:solidFill>
                  <a:srgbClr val="FFFFFF"/>
                </a:solidFill>
                <a:latin typeface="Codec Pro Bold"/>
                <a:ea typeface="Codec Pro Bold"/>
                <a:cs typeface="Codec Pro Bold"/>
                <a:sym typeface="Codec Pro Bold"/>
              </a:rPr>
              <a:t>The failure to include the CEE_Dummy (wich was significant in model A) has likely exarcerbated the autocorrelation, as the model is trying to fit a “one size fits all” line to distinct regional clusters</a:t>
            </a:r>
          </a:p>
        </p:txBody>
      </p:sp>
      <p:sp>
        <p:nvSpPr>
          <p:cNvPr name="TextBox 16" id="16"/>
          <p:cNvSpPr txBox="true"/>
          <p:nvPr/>
        </p:nvSpPr>
        <p:spPr>
          <a:xfrm rot="0">
            <a:off x="92157" y="8584136"/>
            <a:ext cx="9051843" cy="756754"/>
          </a:xfrm>
          <a:prstGeom prst="rect">
            <a:avLst/>
          </a:prstGeom>
        </p:spPr>
        <p:txBody>
          <a:bodyPr anchor="t" rtlCol="false" tIns="0" lIns="0" bIns="0" rIns="0">
            <a:spAutoFit/>
          </a:bodyPr>
          <a:lstStyle/>
          <a:p>
            <a:pPr algn="ctr">
              <a:lnSpc>
                <a:spcPts val="2874"/>
              </a:lnSpc>
              <a:spcBef>
                <a:spcPct val="0"/>
              </a:spcBef>
            </a:pPr>
            <a:r>
              <a:rPr lang="en-US" b="true" sz="2499" spc="69">
                <a:solidFill>
                  <a:srgbClr val="FFFFFF"/>
                </a:solidFill>
                <a:latin typeface="Codec Pro Bold"/>
                <a:ea typeface="Codec Pro Bold"/>
                <a:cs typeface="Codec Pro Bold"/>
                <a:sym typeface="Codec Pro Bold"/>
              </a:rPr>
              <a:t>! Systematic spatial patterns in the omitted variable (Region) are now trapped in the error term.</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sp>
        <p:nvSpPr>
          <p:cNvPr name="Freeform 3" id="3"/>
          <p:cNvSpPr/>
          <p:nvPr/>
        </p:nvSpPr>
        <p:spPr>
          <a:xfrm flipH="false" flipV="false" rot="7259833">
            <a:off x="15277502" y="8889260"/>
            <a:ext cx="4053440" cy="2067254"/>
          </a:xfrm>
          <a:custGeom>
            <a:avLst/>
            <a:gdLst/>
            <a:ahLst/>
            <a:cxnLst/>
            <a:rect r="r" b="b" t="t" l="l"/>
            <a:pathLst>
              <a:path h="2067254" w="4053440">
                <a:moveTo>
                  <a:pt x="0" y="0"/>
                </a:moveTo>
                <a:lnTo>
                  <a:pt x="4053439" y="0"/>
                </a:lnTo>
                <a:lnTo>
                  <a:pt x="4053439" y="2067255"/>
                </a:lnTo>
                <a:lnTo>
                  <a:pt x="0" y="206725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3143206">
            <a:off x="14095662" y="-2479950"/>
            <a:ext cx="3975947" cy="7951895"/>
          </a:xfrm>
          <a:custGeom>
            <a:avLst/>
            <a:gdLst/>
            <a:ahLst/>
            <a:cxnLst/>
            <a:rect r="r" b="b" t="t" l="l"/>
            <a:pathLst>
              <a:path h="7951895" w="3975947">
                <a:moveTo>
                  <a:pt x="0" y="0"/>
                </a:moveTo>
                <a:lnTo>
                  <a:pt x="3975947" y="0"/>
                </a:lnTo>
                <a:lnTo>
                  <a:pt x="3975947" y="7951895"/>
                </a:lnTo>
                <a:lnTo>
                  <a:pt x="0" y="795189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9360391">
            <a:off x="-4597476" y="-1009118"/>
            <a:ext cx="7224077" cy="14448154"/>
          </a:xfrm>
          <a:custGeom>
            <a:avLst/>
            <a:gdLst/>
            <a:ahLst/>
            <a:cxnLst/>
            <a:rect r="r" b="b" t="t" l="l"/>
            <a:pathLst>
              <a:path h="14448154" w="7224077">
                <a:moveTo>
                  <a:pt x="0" y="0"/>
                </a:moveTo>
                <a:lnTo>
                  <a:pt x="7224077" y="0"/>
                </a:lnTo>
                <a:lnTo>
                  <a:pt x="7224077" y="14448153"/>
                </a:lnTo>
                <a:lnTo>
                  <a:pt x="0" y="1444815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3812006">
            <a:off x="10028334" y="701685"/>
            <a:ext cx="1508648" cy="1508648"/>
          </a:xfrm>
          <a:custGeom>
            <a:avLst/>
            <a:gdLst/>
            <a:ahLst/>
            <a:cxnLst/>
            <a:rect r="r" b="b" t="t" l="l"/>
            <a:pathLst>
              <a:path h="1508648" w="1508648">
                <a:moveTo>
                  <a:pt x="0" y="0"/>
                </a:moveTo>
                <a:lnTo>
                  <a:pt x="1508648" y="0"/>
                </a:lnTo>
                <a:lnTo>
                  <a:pt x="1508648" y="1508648"/>
                </a:lnTo>
                <a:lnTo>
                  <a:pt x="0" y="150864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7" id="7"/>
          <p:cNvSpPr txBox="true"/>
          <p:nvPr/>
        </p:nvSpPr>
        <p:spPr>
          <a:xfrm rot="0">
            <a:off x="694428" y="842648"/>
            <a:ext cx="5172373" cy="1160047"/>
          </a:xfrm>
          <a:prstGeom prst="rect">
            <a:avLst/>
          </a:prstGeom>
        </p:spPr>
        <p:txBody>
          <a:bodyPr anchor="t" rtlCol="false" tIns="0" lIns="0" bIns="0" rIns="0">
            <a:spAutoFit/>
          </a:bodyPr>
          <a:lstStyle/>
          <a:p>
            <a:pPr algn="ctr">
              <a:lnSpc>
                <a:spcPts val="8262"/>
              </a:lnSpc>
              <a:spcBef>
                <a:spcPct val="0"/>
              </a:spcBef>
            </a:pPr>
            <a:r>
              <a:rPr lang="en-US" b="true" sz="7184" spc="201">
                <a:solidFill>
                  <a:srgbClr val="FFFFFF"/>
                </a:solidFill>
                <a:latin typeface="Codec Pro Bold"/>
                <a:ea typeface="Codec Pro Bold"/>
                <a:cs typeface="Codec Pro Bold"/>
                <a:sym typeface="Codec Pro Bold"/>
              </a:rPr>
              <a:t>Limitations</a:t>
            </a:r>
          </a:p>
        </p:txBody>
      </p:sp>
      <p:sp>
        <p:nvSpPr>
          <p:cNvPr name="TextBox 8" id="8"/>
          <p:cNvSpPr txBox="true"/>
          <p:nvPr/>
        </p:nvSpPr>
        <p:spPr>
          <a:xfrm rot="0">
            <a:off x="0" y="2217350"/>
            <a:ext cx="18288000" cy="1617345"/>
          </a:xfrm>
          <a:prstGeom prst="rect">
            <a:avLst/>
          </a:prstGeom>
        </p:spPr>
        <p:txBody>
          <a:bodyPr anchor="t" rtlCol="false" tIns="0" lIns="0" bIns="0" rIns="0">
            <a:spAutoFit/>
          </a:bodyPr>
          <a:lstStyle/>
          <a:p>
            <a:pPr algn="ctr">
              <a:lnSpc>
                <a:spcPts val="3104"/>
              </a:lnSpc>
              <a:spcBef>
                <a:spcPct val="0"/>
              </a:spcBef>
            </a:pPr>
          </a:p>
          <a:p>
            <a:pPr algn="ctr">
              <a:lnSpc>
                <a:spcPts val="3104"/>
              </a:lnSpc>
              <a:spcBef>
                <a:spcPct val="0"/>
              </a:spcBef>
            </a:pPr>
            <a:r>
              <a:rPr lang="en-US" b="true" sz="2700" spc="75">
                <a:solidFill>
                  <a:srgbClr val="FFFFFF"/>
                </a:solidFill>
                <a:latin typeface="Codec Pro Bold"/>
                <a:ea typeface="Codec Pro Bold"/>
                <a:cs typeface="Codec Pro Bold"/>
                <a:sym typeface="Codec Pro Bold"/>
              </a:rPr>
              <a:t>Spatial Autocorrelation: The Durbin-Watson test failed, indicating autocorrelation. This is a common limitation in regional economic data, as unemployment in one region often affects neighboring regions. Future research could use a Spatial Error Model to correct this.</a:t>
            </a:r>
          </a:p>
        </p:txBody>
      </p:sp>
      <p:sp>
        <p:nvSpPr>
          <p:cNvPr name="TextBox 9" id="9"/>
          <p:cNvSpPr txBox="true"/>
          <p:nvPr/>
        </p:nvSpPr>
        <p:spPr>
          <a:xfrm rot="0">
            <a:off x="250394" y="4301893"/>
            <a:ext cx="18037606" cy="5132070"/>
          </a:xfrm>
          <a:prstGeom prst="rect">
            <a:avLst/>
          </a:prstGeom>
        </p:spPr>
        <p:txBody>
          <a:bodyPr anchor="t" rtlCol="false" tIns="0" lIns="0" bIns="0" rIns="0">
            <a:spAutoFit/>
          </a:bodyPr>
          <a:lstStyle/>
          <a:p>
            <a:pPr algn="ctr">
              <a:lnSpc>
                <a:spcPts val="3104"/>
              </a:lnSpc>
            </a:pPr>
          </a:p>
          <a:p>
            <a:pPr algn="ctr">
              <a:lnSpc>
                <a:spcPts val="3104"/>
              </a:lnSpc>
              <a:spcBef>
                <a:spcPct val="0"/>
              </a:spcBef>
            </a:pPr>
            <a:r>
              <a:rPr lang="en-US" b="true" sz="2700" spc="75">
                <a:solidFill>
                  <a:srgbClr val="FFFFFF"/>
                </a:solidFill>
                <a:latin typeface="Codec Pro Bold"/>
                <a:ea typeface="Codec Pro Bold"/>
                <a:cs typeface="Codec Pro Bold"/>
                <a:sym typeface="Codec Pro Bold"/>
              </a:rPr>
              <a:t>Limited Regional Coverage: Due to data availability constraints in Eurostat, the analysis is restricted to 9 NUTS-2 regions for which consistent data across all variables could be obtained.</a:t>
            </a:r>
          </a:p>
          <a:p>
            <a:pPr algn="ctr">
              <a:lnSpc>
                <a:spcPts val="3104"/>
              </a:lnSpc>
              <a:spcBef>
                <a:spcPct val="0"/>
              </a:spcBef>
            </a:pPr>
            <a:r>
              <a:rPr lang="en-US" b="true" sz="2700" spc="75">
                <a:solidFill>
                  <a:srgbClr val="FFFFFF"/>
                </a:solidFill>
                <a:latin typeface="Codec Pro Bold"/>
                <a:ea typeface="Codec Pro Bold"/>
                <a:cs typeface="Codec Pro Bold"/>
                <a:sym typeface="Codec Pro Bold"/>
              </a:rPr>
              <a:t>Several EU regions were excluded because complete or comparable data were not available for all variables of interest.</a:t>
            </a:r>
          </a:p>
          <a:p>
            <a:pPr algn="ctr">
              <a:lnSpc>
                <a:spcPts val="3104"/>
              </a:lnSpc>
              <a:spcBef>
                <a:spcPct val="0"/>
              </a:spcBef>
            </a:pPr>
            <a:r>
              <a:rPr lang="en-US" b="true" sz="2700" spc="75">
                <a:solidFill>
                  <a:srgbClr val="FFFFFF"/>
                </a:solidFill>
                <a:latin typeface="Codec Pro Bold"/>
                <a:ea typeface="Codec Pro Bold"/>
                <a:cs typeface="Codec Pro Bold"/>
                <a:sym typeface="Codec Pro Bold"/>
              </a:rPr>
              <a:t>The reduced regional coverage may limit the representativeness and generalizability of the results to the entire European Union.</a:t>
            </a:r>
          </a:p>
          <a:p>
            <a:pPr algn="ctr">
              <a:lnSpc>
                <a:spcPts val="3104"/>
              </a:lnSpc>
              <a:spcBef>
                <a:spcPct val="0"/>
              </a:spcBef>
            </a:pPr>
          </a:p>
          <a:p>
            <a:pPr algn="ctr">
              <a:lnSpc>
                <a:spcPts val="3104"/>
              </a:lnSpc>
              <a:spcBef>
                <a:spcPct val="0"/>
              </a:spcBef>
            </a:pPr>
          </a:p>
          <a:p>
            <a:pPr algn="ctr">
              <a:lnSpc>
                <a:spcPts val="3104"/>
              </a:lnSpc>
              <a:spcBef>
                <a:spcPct val="0"/>
              </a:spcBef>
            </a:pPr>
            <a:r>
              <a:rPr lang="en-US" b="true" sz="2700" spc="75">
                <a:solidFill>
                  <a:srgbClr val="FFFFFF"/>
                </a:solidFill>
                <a:latin typeface="Codec Pro Bold"/>
                <a:ea typeface="Codec Pro Bold"/>
                <a:cs typeface="Codec Pro Bold"/>
                <a:sym typeface="Codec Pro Bold"/>
              </a:rPr>
              <a:t>Inconsistencies in Eurostat NUTS-2 Regional Definitions: Eurostat NUTS-2 data present structural inconsistencies across datasets and years:</a:t>
            </a:r>
          </a:p>
          <a:p>
            <a:pPr algn="ctr">
              <a:lnSpc>
                <a:spcPts val="3104"/>
              </a:lnSpc>
              <a:spcBef>
                <a:spcPct val="0"/>
              </a:spcBef>
            </a:pPr>
            <a:r>
              <a:rPr lang="en-US" b="true" sz="2700" spc="75">
                <a:solidFill>
                  <a:srgbClr val="FFFFFF"/>
                </a:solidFill>
                <a:latin typeface="Codec Pro Bold"/>
                <a:ea typeface="Codec Pro Bold"/>
                <a:cs typeface="Codec Pro Bold"/>
                <a:sym typeface="Codec Pro Bold"/>
              </a:rPr>
              <a:t>Inconsistent region codes and changes in regional classification complicate data merging and harmonization.</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090909"/>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8880508" cy="8880508"/>
          </a:xfrm>
          <a:custGeom>
            <a:avLst/>
            <a:gdLst/>
            <a:ahLst/>
            <a:cxnLst/>
            <a:rect r="r" b="b" t="t" l="l"/>
            <a:pathLst>
              <a:path h="8880508" w="8880508">
                <a:moveTo>
                  <a:pt x="0" y="0"/>
                </a:moveTo>
                <a:lnTo>
                  <a:pt x="8880508" y="0"/>
                </a:lnTo>
                <a:lnTo>
                  <a:pt x="8880508" y="8880508"/>
                </a:lnTo>
                <a:lnTo>
                  <a:pt x="0" y="888050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338685" y="8030085"/>
            <a:ext cx="3145217" cy="333081"/>
          </a:xfrm>
          <a:custGeom>
            <a:avLst/>
            <a:gdLst/>
            <a:ahLst/>
            <a:cxnLst/>
            <a:rect r="r" b="b" t="t" l="l"/>
            <a:pathLst>
              <a:path h="333081" w="3145217">
                <a:moveTo>
                  <a:pt x="0" y="0"/>
                </a:moveTo>
                <a:lnTo>
                  <a:pt x="3145218" y="0"/>
                </a:lnTo>
                <a:lnTo>
                  <a:pt x="3145218" y="333081"/>
                </a:lnTo>
                <a:lnTo>
                  <a:pt x="0" y="333081"/>
                </a:lnTo>
                <a:lnTo>
                  <a:pt x="0" y="0"/>
                </a:lnTo>
                <a:close/>
              </a:path>
            </a:pathLst>
          </a:custGeom>
          <a:blipFill>
            <a:blip r:embed="rId4"/>
            <a:stretch>
              <a:fillRect l="0" t="-86495" r="0" b="0"/>
            </a:stretch>
          </a:blipFill>
        </p:spPr>
      </p:sp>
      <p:sp>
        <p:nvSpPr>
          <p:cNvPr name="Freeform 4" id="4"/>
          <p:cNvSpPr/>
          <p:nvPr/>
        </p:nvSpPr>
        <p:spPr>
          <a:xfrm flipH="false" flipV="false" rot="0">
            <a:off x="3416524" y="8030085"/>
            <a:ext cx="3145217" cy="333081"/>
          </a:xfrm>
          <a:custGeom>
            <a:avLst/>
            <a:gdLst/>
            <a:ahLst/>
            <a:cxnLst/>
            <a:rect r="r" b="b" t="t" l="l"/>
            <a:pathLst>
              <a:path h="333081" w="3145217">
                <a:moveTo>
                  <a:pt x="0" y="0"/>
                </a:moveTo>
                <a:lnTo>
                  <a:pt x="3145217" y="0"/>
                </a:lnTo>
                <a:lnTo>
                  <a:pt x="3145217" y="333081"/>
                </a:lnTo>
                <a:lnTo>
                  <a:pt x="0" y="333081"/>
                </a:lnTo>
                <a:lnTo>
                  <a:pt x="0" y="0"/>
                </a:lnTo>
                <a:close/>
              </a:path>
            </a:pathLst>
          </a:custGeom>
          <a:blipFill>
            <a:blip r:embed="rId4"/>
            <a:stretch>
              <a:fillRect l="0" t="-86495" r="0" b="0"/>
            </a:stretch>
          </a:blipFill>
        </p:spPr>
      </p:sp>
      <p:sp>
        <p:nvSpPr>
          <p:cNvPr name="Freeform 5" id="5"/>
          <p:cNvSpPr/>
          <p:nvPr/>
        </p:nvSpPr>
        <p:spPr>
          <a:xfrm flipH="false" flipV="false" rot="0">
            <a:off x="7571391" y="8030085"/>
            <a:ext cx="3145217" cy="333081"/>
          </a:xfrm>
          <a:custGeom>
            <a:avLst/>
            <a:gdLst/>
            <a:ahLst/>
            <a:cxnLst/>
            <a:rect r="r" b="b" t="t" l="l"/>
            <a:pathLst>
              <a:path h="333081" w="3145217">
                <a:moveTo>
                  <a:pt x="0" y="0"/>
                </a:moveTo>
                <a:lnTo>
                  <a:pt x="3145218" y="0"/>
                </a:lnTo>
                <a:lnTo>
                  <a:pt x="3145218" y="333081"/>
                </a:lnTo>
                <a:lnTo>
                  <a:pt x="0" y="333081"/>
                </a:lnTo>
                <a:lnTo>
                  <a:pt x="0" y="0"/>
                </a:lnTo>
                <a:close/>
              </a:path>
            </a:pathLst>
          </a:custGeom>
          <a:blipFill>
            <a:blip r:embed="rId4"/>
            <a:stretch>
              <a:fillRect l="0" t="-86495" r="0" b="0"/>
            </a:stretch>
          </a:blipFill>
        </p:spPr>
      </p:sp>
      <p:sp>
        <p:nvSpPr>
          <p:cNvPr name="Freeform 6" id="6"/>
          <p:cNvSpPr/>
          <p:nvPr/>
        </p:nvSpPr>
        <p:spPr>
          <a:xfrm flipH="false" flipV="false" rot="0">
            <a:off x="11726259" y="8030085"/>
            <a:ext cx="3145217" cy="333081"/>
          </a:xfrm>
          <a:custGeom>
            <a:avLst/>
            <a:gdLst/>
            <a:ahLst/>
            <a:cxnLst/>
            <a:rect r="r" b="b" t="t" l="l"/>
            <a:pathLst>
              <a:path h="333081" w="3145217">
                <a:moveTo>
                  <a:pt x="0" y="0"/>
                </a:moveTo>
                <a:lnTo>
                  <a:pt x="3145217" y="0"/>
                </a:lnTo>
                <a:lnTo>
                  <a:pt x="3145217" y="333081"/>
                </a:lnTo>
                <a:lnTo>
                  <a:pt x="0" y="333081"/>
                </a:lnTo>
                <a:lnTo>
                  <a:pt x="0" y="0"/>
                </a:lnTo>
                <a:close/>
              </a:path>
            </a:pathLst>
          </a:custGeom>
          <a:blipFill>
            <a:blip r:embed="rId4"/>
            <a:stretch>
              <a:fillRect l="0" t="-86495" r="0" b="0"/>
            </a:stretch>
          </a:blipFill>
        </p:spPr>
      </p:sp>
      <p:sp>
        <p:nvSpPr>
          <p:cNvPr name="Freeform 7" id="7"/>
          <p:cNvSpPr/>
          <p:nvPr/>
        </p:nvSpPr>
        <p:spPr>
          <a:xfrm flipH="false" flipV="false" rot="0">
            <a:off x="12543212" y="8363166"/>
            <a:ext cx="4618008" cy="4618008"/>
          </a:xfrm>
          <a:custGeom>
            <a:avLst/>
            <a:gdLst/>
            <a:ahLst/>
            <a:cxnLst/>
            <a:rect r="r" b="b" t="t" l="l"/>
            <a:pathLst>
              <a:path h="4618008" w="4618008">
                <a:moveTo>
                  <a:pt x="0" y="0"/>
                </a:moveTo>
                <a:lnTo>
                  <a:pt x="4618008" y="0"/>
                </a:lnTo>
                <a:lnTo>
                  <a:pt x="4618008" y="4618008"/>
                </a:lnTo>
                <a:lnTo>
                  <a:pt x="0" y="461800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14651822" y="7473446"/>
            <a:ext cx="6214132" cy="6214132"/>
          </a:xfrm>
          <a:custGeom>
            <a:avLst/>
            <a:gdLst/>
            <a:ahLst/>
            <a:cxnLst/>
            <a:rect r="r" b="b" t="t" l="l"/>
            <a:pathLst>
              <a:path h="6214132" w="6214132">
                <a:moveTo>
                  <a:pt x="0" y="0"/>
                </a:moveTo>
                <a:lnTo>
                  <a:pt x="6214132" y="0"/>
                </a:lnTo>
                <a:lnTo>
                  <a:pt x="6214132" y="6214132"/>
                </a:lnTo>
                <a:lnTo>
                  <a:pt x="0" y="621413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9" id="9"/>
          <p:cNvSpPr/>
          <p:nvPr/>
        </p:nvSpPr>
        <p:spPr>
          <a:xfrm flipH="false" flipV="false" rot="0">
            <a:off x="16640929" y="6525371"/>
            <a:ext cx="616771" cy="616771"/>
          </a:xfrm>
          <a:custGeom>
            <a:avLst/>
            <a:gdLst/>
            <a:ahLst/>
            <a:cxnLst/>
            <a:rect r="r" b="b" t="t" l="l"/>
            <a:pathLst>
              <a:path h="616771" w="616771">
                <a:moveTo>
                  <a:pt x="0" y="0"/>
                </a:moveTo>
                <a:lnTo>
                  <a:pt x="616771" y="0"/>
                </a:lnTo>
                <a:lnTo>
                  <a:pt x="616771" y="616770"/>
                </a:lnTo>
                <a:lnTo>
                  <a:pt x="0" y="61677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10" id="10"/>
          <p:cNvSpPr txBox="true"/>
          <p:nvPr/>
        </p:nvSpPr>
        <p:spPr>
          <a:xfrm rot="0">
            <a:off x="-3230067" y="415339"/>
            <a:ext cx="14956325" cy="1160047"/>
          </a:xfrm>
          <a:prstGeom prst="rect">
            <a:avLst/>
          </a:prstGeom>
        </p:spPr>
        <p:txBody>
          <a:bodyPr anchor="t" rtlCol="false" tIns="0" lIns="0" bIns="0" rIns="0">
            <a:spAutoFit/>
          </a:bodyPr>
          <a:lstStyle/>
          <a:p>
            <a:pPr algn="ctr">
              <a:lnSpc>
                <a:spcPts val="8262"/>
              </a:lnSpc>
              <a:spcBef>
                <a:spcPct val="0"/>
              </a:spcBef>
            </a:pPr>
            <a:r>
              <a:rPr lang="en-US" b="true" sz="7184" spc="201">
                <a:solidFill>
                  <a:srgbClr val="FFFFFF"/>
                </a:solidFill>
                <a:latin typeface="Codec Pro Bold"/>
                <a:ea typeface="Codec Pro Bold"/>
                <a:cs typeface="Codec Pro Bold"/>
                <a:sym typeface="Codec Pro Bold"/>
              </a:rPr>
              <a:t>Conclusions</a:t>
            </a:r>
          </a:p>
        </p:txBody>
      </p:sp>
      <p:sp>
        <p:nvSpPr>
          <p:cNvPr name="TextBox 11" id="11"/>
          <p:cNvSpPr txBox="true"/>
          <p:nvPr/>
        </p:nvSpPr>
        <p:spPr>
          <a:xfrm rot="0">
            <a:off x="1028700" y="2437017"/>
            <a:ext cx="16875116" cy="3093372"/>
          </a:xfrm>
          <a:prstGeom prst="rect">
            <a:avLst/>
          </a:prstGeom>
        </p:spPr>
        <p:txBody>
          <a:bodyPr anchor="t" rtlCol="false" tIns="0" lIns="0" bIns="0" rIns="0">
            <a:spAutoFit/>
          </a:bodyPr>
          <a:lstStyle/>
          <a:p>
            <a:pPr algn="ctr">
              <a:lnSpc>
                <a:spcPts val="4849"/>
              </a:lnSpc>
              <a:spcBef>
                <a:spcPct val="0"/>
              </a:spcBef>
            </a:pPr>
            <a:r>
              <a:rPr lang="en-US" b="true" sz="3463" spc="110">
                <a:solidFill>
                  <a:srgbClr val="FFFFFF"/>
                </a:solidFill>
                <a:latin typeface="Codec Pro Bold"/>
                <a:ea typeface="Codec Pro Bold"/>
                <a:cs typeface="Codec Pro Bold"/>
                <a:sym typeface="Codec Pro Bold"/>
              </a:rPr>
              <a:t>Regional unemployment is driven by economic structure, prosperity, and institutional factors. The CEE dummy is essential for accurate modeling, capturing systematic differences beyond standard economic indicators. Model 1 provides robust, policy-relevant estimates for evidence-based regional development strategies across the EU.</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sp>
        <p:nvSpPr>
          <p:cNvPr name="Freeform 3" id="3"/>
          <p:cNvSpPr/>
          <p:nvPr/>
        </p:nvSpPr>
        <p:spPr>
          <a:xfrm flipH="false" flipV="false" rot="6303208">
            <a:off x="11451451" y="-2503214"/>
            <a:ext cx="8170649" cy="8170649"/>
          </a:xfrm>
          <a:custGeom>
            <a:avLst/>
            <a:gdLst/>
            <a:ahLst/>
            <a:cxnLst/>
            <a:rect r="r" b="b" t="t" l="l"/>
            <a:pathLst>
              <a:path h="8170649" w="8170649">
                <a:moveTo>
                  <a:pt x="0" y="0"/>
                </a:moveTo>
                <a:lnTo>
                  <a:pt x="8170648" y="0"/>
                </a:lnTo>
                <a:lnTo>
                  <a:pt x="8170648" y="8170648"/>
                </a:lnTo>
                <a:lnTo>
                  <a:pt x="0" y="817064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1028700" y="415339"/>
            <a:ext cx="5113437" cy="1160047"/>
          </a:xfrm>
          <a:prstGeom prst="rect">
            <a:avLst/>
          </a:prstGeom>
        </p:spPr>
        <p:txBody>
          <a:bodyPr anchor="t" rtlCol="false" tIns="0" lIns="0" bIns="0" rIns="0">
            <a:spAutoFit/>
          </a:bodyPr>
          <a:lstStyle/>
          <a:p>
            <a:pPr algn="ctr">
              <a:lnSpc>
                <a:spcPts val="8262"/>
              </a:lnSpc>
              <a:spcBef>
                <a:spcPct val="0"/>
              </a:spcBef>
            </a:pPr>
            <a:r>
              <a:rPr lang="en-US" b="true" sz="7184" spc="201">
                <a:solidFill>
                  <a:srgbClr val="FFFFFF"/>
                </a:solidFill>
                <a:latin typeface="Codec Pro Bold"/>
                <a:ea typeface="Codec Pro Bold"/>
                <a:cs typeface="Codec Pro Bold"/>
                <a:sym typeface="Codec Pro Bold"/>
              </a:rPr>
              <a:t>References</a:t>
            </a:r>
          </a:p>
        </p:txBody>
      </p:sp>
      <p:sp>
        <p:nvSpPr>
          <p:cNvPr name="TextBox 5" id="5"/>
          <p:cNvSpPr txBox="true"/>
          <p:nvPr/>
        </p:nvSpPr>
        <p:spPr>
          <a:xfrm rot="0">
            <a:off x="0" y="1553535"/>
            <a:ext cx="18288000" cy="5753735"/>
          </a:xfrm>
          <a:prstGeom prst="rect">
            <a:avLst/>
          </a:prstGeom>
        </p:spPr>
        <p:txBody>
          <a:bodyPr anchor="t" rtlCol="false" tIns="0" lIns="0" bIns="0" rIns="0">
            <a:spAutoFit/>
          </a:bodyPr>
          <a:lstStyle/>
          <a:p>
            <a:pPr algn="ctr">
              <a:lnSpc>
                <a:spcPts val="2529"/>
              </a:lnSpc>
              <a:spcBef>
                <a:spcPct val="0"/>
              </a:spcBef>
            </a:pPr>
            <a:r>
              <a:rPr lang="en-US" b="true" sz="2199" spc="61">
                <a:solidFill>
                  <a:srgbClr val="FFFFFF"/>
                </a:solidFill>
                <a:latin typeface="Codec Pro Bold"/>
                <a:ea typeface="Codec Pro Bold"/>
                <a:cs typeface="Codec Pro Bold"/>
                <a:sym typeface="Codec Pro Bold"/>
              </a:rPr>
              <a:t>📌 1) Unemployment statistics at regional level (2022)</a:t>
            </a:r>
          </a:p>
          <a:p>
            <a:pPr algn="ctr">
              <a:lnSpc>
                <a:spcPts val="2529"/>
              </a:lnSpc>
              <a:spcBef>
                <a:spcPct val="0"/>
              </a:spcBef>
            </a:pPr>
            <a:r>
              <a:rPr lang="en-US" b="true" sz="2199" spc="61">
                <a:solidFill>
                  <a:srgbClr val="FFFFFF"/>
                </a:solidFill>
                <a:latin typeface="Codec Pro Bold"/>
                <a:ea typeface="Codec Pro Bold"/>
                <a:cs typeface="Codec Pro Bold"/>
                <a:sym typeface="Codec Pro Bold"/>
              </a:rPr>
              <a:t>URL: https://ec.europa.eu/eurostat/statistics-explained/index.php?title=Unemployment_statistics_at_regional_level</a:t>
            </a:r>
          </a:p>
          <a:p>
            <a:pPr algn="ctr">
              <a:lnSpc>
                <a:spcPts val="2529"/>
              </a:lnSpc>
              <a:spcBef>
                <a:spcPct val="0"/>
              </a:spcBef>
            </a:pPr>
            <a:r>
              <a:rPr lang="en-US" b="true" sz="2199" spc="61">
                <a:solidFill>
                  <a:srgbClr val="FFFFFF"/>
                </a:solidFill>
                <a:latin typeface="Codec Pro Bold"/>
                <a:ea typeface="Codec Pro Bold"/>
                <a:cs typeface="Codec Pro Bold"/>
                <a:sym typeface="Codec Pro Bold"/>
              </a:rPr>
              <a:t> This page provides regional unemployment rates (NUTS-2) and explains how the 2022 data was compiled and interpreted. European Commission</a:t>
            </a:r>
          </a:p>
          <a:p>
            <a:pPr algn="ctr">
              <a:lnSpc>
                <a:spcPts val="2529"/>
              </a:lnSpc>
              <a:spcBef>
                <a:spcPct val="0"/>
              </a:spcBef>
            </a:pPr>
          </a:p>
          <a:p>
            <a:pPr algn="ctr">
              <a:lnSpc>
                <a:spcPts val="2529"/>
              </a:lnSpc>
              <a:spcBef>
                <a:spcPct val="0"/>
              </a:spcBef>
            </a:pPr>
            <a:r>
              <a:rPr lang="en-US" b="true" sz="2199" spc="61">
                <a:solidFill>
                  <a:srgbClr val="FFFFFF"/>
                </a:solidFill>
                <a:latin typeface="Codec Pro Bold"/>
                <a:ea typeface="Codec Pro Bold"/>
                <a:cs typeface="Codec Pro Bold"/>
                <a:sym typeface="Codec Pro Bold"/>
              </a:rPr>
              <a:t>📌 2) Eurostat news – Real GDP increased in most EU regions in 2023</a:t>
            </a:r>
          </a:p>
          <a:p>
            <a:pPr algn="ctr">
              <a:lnSpc>
                <a:spcPts val="2529"/>
              </a:lnSpc>
              <a:spcBef>
                <a:spcPct val="0"/>
              </a:spcBef>
            </a:pPr>
            <a:r>
              <a:rPr lang="en-US" b="true" sz="2199" spc="61">
                <a:solidFill>
                  <a:srgbClr val="FFFFFF"/>
                </a:solidFill>
                <a:latin typeface="Codec Pro Bold"/>
                <a:ea typeface="Codec Pro Bold"/>
                <a:cs typeface="Codec Pro Bold"/>
                <a:sym typeface="Codec Pro Bold"/>
              </a:rPr>
              <a:t>URL: https://ec.europa.eu/eurostat/web/products-eurostat-news/w/ddn-20250211-2</a:t>
            </a:r>
          </a:p>
          <a:p>
            <a:pPr algn="ctr">
              <a:lnSpc>
                <a:spcPts val="2529"/>
              </a:lnSpc>
              <a:spcBef>
                <a:spcPct val="0"/>
              </a:spcBef>
            </a:pPr>
            <a:r>
              <a:rPr lang="en-US" b="true" sz="2199" spc="61">
                <a:solidFill>
                  <a:srgbClr val="FFFFFF"/>
                </a:solidFill>
                <a:latin typeface="Codec Pro Bold"/>
                <a:ea typeface="Codec Pro Bold"/>
                <a:cs typeface="Codec Pro Bold"/>
                <a:sym typeface="Codec Pro Bold"/>
              </a:rPr>
              <a:t> This news release from 11 February 2025 gives information on GDP developments across EU regions in 2022. European Commission</a:t>
            </a:r>
          </a:p>
          <a:p>
            <a:pPr algn="ctr">
              <a:lnSpc>
                <a:spcPts val="2529"/>
              </a:lnSpc>
              <a:spcBef>
                <a:spcPct val="0"/>
              </a:spcBef>
            </a:pPr>
          </a:p>
          <a:p>
            <a:pPr algn="ctr">
              <a:lnSpc>
                <a:spcPts val="2529"/>
              </a:lnSpc>
              <a:spcBef>
                <a:spcPct val="0"/>
              </a:spcBef>
            </a:pPr>
            <a:r>
              <a:rPr lang="en-US" b="true" sz="2199" spc="61">
                <a:solidFill>
                  <a:srgbClr val="FFFFFF"/>
                </a:solidFill>
                <a:latin typeface="Codec Pro Bold"/>
                <a:ea typeface="Codec Pro Bold"/>
                <a:cs typeface="Codec Pro Bold"/>
                <a:sym typeface="Codec Pro Bold"/>
              </a:rPr>
              <a:t>📌 3) Eurostat news – Which EU regions rely heavily on agriculture?</a:t>
            </a:r>
          </a:p>
          <a:p>
            <a:pPr algn="ctr">
              <a:lnSpc>
                <a:spcPts val="2529"/>
              </a:lnSpc>
              <a:spcBef>
                <a:spcPct val="0"/>
              </a:spcBef>
            </a:pPr>
            <a:r>
              <a:rPr lang="en-US" b="true" sz="2199" spc="61">
                <a:solidFill>
                  <a:srgbClr val="FFFFFF"/>
                </a:solidFill>
                <a:latin typeface="Codec Pro Bold"/>
                <a:ea typeface="Codec Pro Bold"/>
                <a:cs typeface="Codec Pro Bold"/>
                <a:sym typeface="Codec Pro Bold"/>
              </a:rPr>
              <a:t>URL: https://ec.europa.eu/eurostat/web/products-eurostat-news/w/ddn-20221011-1</a:t>
            </a:r>
          </a:p>
          <a:p>
            <a:pPr algn="ctr">
              <a:lnSpc>
                <a:spcPts val="2529"/>
              </a:lnSpc>
              <a:spcBef>
                <a:spcPct val="0"/>
              </a:spcBef>
            </a:pPr>
            <a:r>
              <a:rPr lang="en-US" b="true" sz="2199" spc="61">
                <a:solidFill>
                  <a:srgbClr val="FFFFFF"/>
                </a:solidFill>
                <a:latin typeface="Codec Pro Bold"/>
                <a:ea typeface="Codec Pro Bold"/>
                <a:cs typeface="Codec Pro Bold"/>
                <a:sym typeface="Codec Pro Bold"/>
              </a:rPr>
              <a:t> This article describes regional agricultural employment statistics, including overall employment share in agriculture for the EU. European Commission</a:t>
            </a:r>
          </a:p>
          <a:p>
            <a:pPr algn="ctr">
              <a:lnSpc>
                <a:spcPts val="2529"/>
              </a:lnSpc>
              <a:spcBef>
                <a:spcPct val="0"/>
              </a:spcBef>
            </a:pPr>
          </a:p>
          <a:p>
            <a:pPr algn="ctr">
              <a:lnSpc>
                <a:spcPts val="2529"/>
              </a:lnSpc>
              <a:spcBef>
                <a:spcPct val="0"/>
              </a:spcBef>
            </a:pPr>
            <a:r>
              <a:rPr lang="en-US" b="true" sz="2199" spc="61">
                <a:solidFill>
                  <a:srgbClr val="FFFFFF"/>
                </a:solidFill>
                <a:latin typeface="Codec Pro Bold"/>
                <a:ea typeface="Codec Pro Bold"/>
                <a:cs typeface="Codec Pro Bold"/>
                <a:sym typeface="Codec Pro Bold"/>
              </a:rPr>
              <a:t>📌 4) Unemployment statistics – note on data availability (Mayotte)</a:t>
            </a:r>
          </a:p>
          <a:p>
            <a:pPr algn="ctr">
              <a:lnSpc>
                <a:spcPts val="2529"/>
              </a:lnSpc>
              <a:spcBef>
                <a:spcPct val="0"/>
              </a:spcBef>
            </a:pPr>
            <a:r>
              <a:rPr lang="en-US" b="true" sz="2199" spc="61">
                <a:solidFill>
                  <a:srgbClr val="FFFFFF"/>
                </a:solidFill>
                <a:latin typeface="Codec Pro Bold"/>
                <a:ea typeface="Codec Pro Bold"/>
                <a:cs typeface="Codec Pro Bold"/>
                <a:sym typeface="Codec Pro Bold"/>
              </a:rPr>
              <a:t>URL: https://ec.europa.eu/eurostat/statistics-explained/index.php?title=Unemployment_statistics_at_regional_level</a:t>
            </a:r>
          </a:p>
          <a:p>
            <a:pPr algn="ctr">
              <a:lnSpc>
                <a:spcPts val="2529"/>
              </a:lnSpc>
              <a:spcBef>
                <a:spcPct val="0"/>
              </a:spcBef>
            </a:pPr>
          </a:p>
        </p:txBody>
      </p:sp>
      <p:sp>
        <p:nvSpPr>
          <p:cNvPr name="TextBox 6" id="6"/>
          <p:cNvSpPr txBox="true"/>
          <p:nvPr/>
        </p:nvSpPr>
        <p:spPr>
          <a:xfrm rot="0">
            <a:off x="12737369" y="8644939"/>
            <a:ext cx="4995386" cy="1160047"/>
          </a:xfrm>
          <a:prstGeom prst="rect">
            <a:avLst/>
          </a:prstGeom>
        </p:spPr>
        <p:txBody>
          <a:bodyPr anchor="t" rtlCol="false" tIns="0" lIns="0" bIns="0" rIns="0">
            <a:spAutoFit/>
          </a:bodyPr>
          <a:lstStyle/>
          <a:p>
            <a:pPr algn="ctr">
              <a:lnSpc>
                <a:spcPts val="8262"/>
              </a:lnSpc>
              <a:spcBef>
                <a:spcPct val="0"/>
              </a:spcBef>
            </a:pPr>
            <a:r>
              <a:rPr lang="en-US" b="true" sz="7184" spc="201">
                <a:solidFill>
                  <a:srgbClr val="FFFFFF"/>
                </a:solidFill>
                <a:latin typeface="Codec Pro Bold"/>
                <a:ea typeface="Codec Pro Bold"/>
                <a:cs typeface="Codec Pro Bold"/>
                <a:sym typeface="Codec Pro Bold"/>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DAG9RU17WmY</dc:identifier>
  <dcterms:modified xsi:type="dcterms:W3CDTF">2011-08-01T06:04:30Z</dcterms:modified>
  <cp:revision>1</cp:revision>
  <dc:title>Purple and black Gradient Modern professional Marketing Plan Presentation</dc:title>
</cp:coreProperties>
</file>